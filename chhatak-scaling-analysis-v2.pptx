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8229600" y="-2743200"/>
            <a:ext cx="7315200" cy="7315200"/>
          </a:xfrm>
          <a:prstGeom prst="ellipse">
            <a:avLst/>
          </a:prstGeom>
          <a:solidFill>
            <a:srgbClr val="F0994A">
              <a:alpha val="18000"/>
            </a:srgbClr>
          </a:solidFill>
          <a:ln w="12700">
            <a:solidFill>
              <a:srgbClr val="FFFFFF">
                <a:alpha val="0"/>
              </a:srgbClr>
            </a:solidFill>
            <a:prstDash val="solid"/>
          </a:ln>
        </p:spPr>
      </p:sp>
      <p:sp>
        <p:nvSpPr>
          <p:cNvPr id="3" name="Shape 1"/>
          <p:cNvSpPr/>
          <p:nvPr/>
        </p:nvSpPr>
        <p:spPr>
          <a:xfrm>
            <a:off x="9601200" y="-914400"/>
            <a:ext cx="3657600" cy="3657600"/>
          </a:xfrm>
          <a:prstGeom prst="ellipse">
            <a:avLst/>
          </a:prstGeom>
          <a:solidFill>
            <a:srgbClr val="E9C36B">
              <a:alpha val="12000"/>
            </a:srgbClr>
          </a:solidFill>
          <a:ln w="12700">
            <a:solidFill>
              <a:srgbClr val="FFFFFF">
                <a:alpha val="0"/>
              </a:srgbClr>
            </a:solidFill>
            <a:prstDash val="solid"/>
          </a:ln>
        </p:spPr>
      </p:sp>
      <p:sp>
        <p:nvSpPr>
          <p:cNvPr id="4" name="Text 2"/>
          <p:cNvSpPr/>
          <p:nvPr/>
        </p:nvSpPr>
        <p:spPr>
          <a:xfrm>
            <a:off x="731520" y="1371600"/>
            <a:ext cx="7315200" cy="365760"/>
          </a:xfrm>
          <a:prstGeom prst="rect">
            <a:avLst/>
          </a:prstGeom>
          <a:noFill/>
          <a:ln/>
        </p:spPr>
        <p:txBody>
          <a:bodyPr wrap="square" lIns="0" tIns="0" rIns="0" bIns="0" rtlCol="0" anchor="ctr"/>
          <a:lstStyle/>
          <a:p>
            <a:pPr indent="0" marL="0">
              <a:buNone/>
            </a:pPr>
            <a:r>
              <a:rPr lang="en-US" sz="1300" b="1" spc="500" kern="0" dirty="0">
                <a:solidFill>
                  <a:srgbClr val="F0994A"/>
                </a:solidFill>
                <a:latin typeface="Calibri" pitchFamily="34" charset="0"/>
                <a:ea typeface="Calibri" pitchFamily="34" charset="-122"/>
                <a:cs typeface="Calibri" pitchFamily="34" charset="-120"/>
              </a:rPr>
              <a:t>— A working document</a:t>
            </a:r>
            <a:endParaRPr lang="en-US" sz="1300" dirty="0"/>
          </a:p>
        </p:txBody>
      </p:sp>
      <p:sp>
        <p:nvSpPr>
          <p:cNvPr id="5" name="Text 3"/>
          <p:cNvSpPr/>
          <p:nvPr/>
        </p:nvSpPr>
        <p:spPr>
          <a:xfrm>
            <a:off x="731520" y="1828800"/>
            <a:ext cx="10972800" cy="1463040"/>
          </a:xfrm>
          <a:prstGeom prst="rect">
            <a:avLst/>
          </a:prstGeom>
          <a:noFill/>
          <a:ln/>
        </p:spPr>
        <p:txBody>
          <a:bodyPr wrap="square" lIns="0" tIns="0" rIns="0" bIns="0" rtlCol="0" anchor="ctr"/>
          <a:lstStyle/>
          <a:p>
            <a:pPr indent="0" marL="0">
              <a:buNone/>
            </a:pPr>
            <a:r>
              <a:rPr lang="en-US" sz="11000" b="1" dirty="0">
                <a:solidFill>
                  <a:srgbClr val="F5EDD8"/>
                </a:solidFill>
                <a:latin typeface="Cambria" pitchFamily="34" charset="0"/>
                <a:ea typeface="Cambria" pitchFamily="34" charset="-122"/>
                <a:cs typeface="Cambria" pitchFamily="34" charset="-120"/>
              </a:rPr>
              <a:t>Scaling</a:t>
            </a:r>
            <a:endParaRPr lang="en-US" sz="11000" dirty="0"/>
          </a:p>
        </p:txBody>
      </p:sp>
      <p:sp>
        <p:nvSpPr>
          <p:cNvPr id="6" name="Text 4"/>
          <p:cNvSpPr/>
          <p:nvPr/>
        </p:nvSpPr>
        <p:spPr>
          <a:xfrm>
            <a:off x="731520" y="3108960"/>
            <a:ext cx="10972800" cy="1280160"/>
          </a:xfrm>
          <a:prstGeom prst="rect">
            <a:avLst/>
          </a:prstGeom>
          <a:noFill/>
          <a:ln/>
        </p:spPr>
        <p:txBody>
          <a:bodyPr wrap="square" lIns="0" tIns="0" rIns="0" bIns="0" rtlCol="0" anchor="ctr"/>
          <a:lstStyle/>
          <a:p>
            <a:pPr indent="0" marL="0">
              <a:buNone/>
            </a:pPr>
            <a:r>
              <a:rPr lang="en-US" sz="9000" b="1" dirty="0">
                <a:solidFill>
                  <a:srgbClr val="F5EDD8"/>
                </a:solidFill>
                <a:latin typeface="Cambria" pitchFamily="34" charset="0"/>
                <a:ea typeface="Cambria" pitchFamily="34" charset="-122"/>
                <a:cs typeface="Cambria" pitchFamily="34" charset="-120"/>
              </a:rPr>
              <a:t>&amp; </a:t>
            </a:r>
            <a:pPr indent="0" marL="0">
              <a:buNone/>
            </a:pPr>
            <a:r>
              <a:rPr lang="en-US" sz="9000" b="1" i="1" dirty="0">
                <a:solidFill>
                  <a:srgbClr val="F0994A"/>
                </a:solidFill>
                <a:latin typeface="Cambria" pitchFamily="34" charset="0"/>
                <a:ea typeface="Cambria" pitchFamily="34" charset="-122"/>
                <a:cs typeface="Cambria" pitchFamily="34" charset="-120"/>
              </a:rPr>
              <a:t>cost economics</a:t>
            </a:r>
            <a:pPr indent="0" marL="0">
              <a:buNone/>
            </a:pPr>
            <a:r>
              <a:rPr lang="en-US" sz="9000" b="1" dirty="0">
                <a:solidFill>
                  <a:srgbClr val="F5EDD8"/>
                </a:solidFill>
                <a:latin typeface="Cambria" pitchFamily="34" charset="0"/>
                <a:ea typeface="Cambria" pitchFamily="34" charset="-122"/>
                <a:cs typeface="Cambria" pitchFamily="34" charset="-120"/>
              </a:rPr>
              <a:t>.</a:t>
            </a:r>
            <a:endParaRPr lang="en-US" sz="9000" dirty="0"/>
          </a:p>
        </p:txBody>
      </p:sp>
      <p:sp>
        <p:nvSpPr>
          <p:cNvPr id="7" name="Text 5"/>
          <p:cNvSpPr/>
          <p:nvPr/>
        </p:nvSpPr>
        <p:spPr>
          <a:xfrm>
            <a:off x="731520" y="4754880"/>
            <a:ext cx="10058400" cy="822960"/>
          </a:xfrm>
          <a:prstGeom prst="rect">
            <a:avLst/>
          </a:prstGeom>
          <a:noFill/>
          <a:ln/>
        </p:spPr>
        <p:txBody>
          <a:bodyPr wrap="square" lIns="0" tIns="0" rIns="0" bIns="0" rtlCol="0" anchor="ctr"/>
          <a:lstStyle/>
          <a:p>
            <a:pPr indent="0" marL="0">
              <a:buNone/>
            </a:pPr>
            <a:r>
              <a:rPr lang="en-US" sz="1700" dirty="0">
                <a:solidFill>
                  <a:srgbClr val="CFC5AC"/>
                </a:solidFill>
                <a:latin typeface="Cambria" pitchFamily="34" charset="0"/>
                <a:ea typeface="Cambria" pitchFamily="34" charset="-122"/>
                <a:cs typeface="Cambria" pitchFamily="34" charset="-120"/>
              </a:rPr>
              <a:t>What it costs to run Chhatak at three traffic bands — with 1-year and 2-year projections, cost-per-order math, and clear upgrade triggers.</a:t>
            </a:r>
            <a:endParaRPr lang="en-US" sz="1700" dirty="0"/>
          </a:p>
        </p:txBody>
      </p:sp>
      <p:sp>
        <p:nvSpPr>
          <p:cNvPr id="8" name="Text 6"/>
          <p:cNvSpPr/>
          <p:nvPr/>
        </p:nvSpPr>
        <p:spPr>
          <a:xfrm>
            <a:off x="731520" y="6309360"/>
            <a:ext cx="7315200" cy="274320"/>
          </a:xfrm>
          <a:prstGeom prst="rect">
            <a:avLst/>
          </a:prstGeom>
          <a:noFill/>
          <a:ln/>
        </p:spPr>
        <p:txBody>
          <a:bodyPr wrap="square" lIns="0" tIns="0" rIns="0" bIns="0" rtlCol="0" anchor="ctr"/>
          <a:lstStyle/>
          <a:p>
            <a:pPr indent="0" marL="0">
              <a:buNone/>
            </a:pPr>
            <a:r>
              <a:rPr lang="en-US" sz="1100" spc="200" kern="0" dirty="0">
                <a:solidFill>
                  <a:srgbClr val="7A8AA8"/>
                </a:solidFill>
                <a:latin typeface="Calibri" pitchFamily="34" charset="0"/>
                <a:ea typeface="Calibri" pitchFamily="34" charset="-122"/>
                <a:cs typeface="Calibri" pitchFamily="34" charset="-120"/>
              </a:rPr>
              <a:t>Prepared for the Chhatak team  ·  July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Executive summary</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The whole story </a:t>
            </a:r>
            <a:pPr indent="0" marL="0">
              <a:buNone/>
            </a:pPr>
            <a:r>
              <a:rPr lang="en-US" sz="4200" b="1" i="1" dirty="0">
                <a:solidFill>
                  <a:srgbClr val="F0994A"/>
                </a:solidFill>
                <a:latin typeface="Cambria" pitchFamily="34" charset="0"/>
                <a:ea typeface="Cambria" pitchFamily="34" charset="-122"/>
                <a:cs typeface="Cambria" pitchFamily="34" charset="-120"/>
              </a:rPr>
              <a:t>in three numbers.</a:t>
            </a:r>
            <a:endParaRPr lang="en-US" sz="4200" dirty="0"/>
          </a:p>
        </p:txBody>
      </p:sp>
      <p:sp>
        <p:nvSpPr>
          <p:cNvPr id="4" name="Shape 2"/>
          <p:cNvSpPr/>
          <p:nvPr/>
        </p:nvSpPr>
        <p:spPr>
          <a:xfrm>
            <a:off x="731520" y="2103120"/>
            <a:ext cx="3611880" cy="2834640"/>
          </a:xfrm>
          <a:prstGeom prst="roundRect">
            <a:avLst>
              <a:gd name="adj" fmla="val 3226"/>
            </a:avLst>
          </a:prstGeom>
          <a:solidFill>
            <a:srgbClr val="14263F"/>
          </a:solidFill>
          <a:ln w="19050">
            <a:solidFill>
              <a:srgbClr val="4A8FA8"/>
            </a:solidFill>
            <a:prstDash val="solid"/>
          </a:ln>
        </p:spPr>
      </p:sp>
      <p:sp>
        <p:nvSpPr>
          <p:cNvPr id="5" name="Text 3"/>
          <p:cNvSpPr/>
          <p:nvPr/>
        </p:nvSpPr>
        <p:spPr>
          <a:xfrm>
            <a:off x="1005840" y="2377440"/>
            <a:ext cx="3063240" cy="365760"/>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10 – 50 CCU</a:t>
            </a:r>
            <a:endParaRPr lang="en-US" sz="1100" dirty="0"/>
          </a:p>
        </p:txBody>
      </p:sp>
      <p:sp>
        <p:nvSpPr>
          <p:cNvPr id="6" name="Text 4"/>
          <p:cNvSpPr/>
          <p:nvPr/>
        </p:nvSpPr>
        <p:spPr>
          <a:xfrm>
            <a:off x="1005840" y="2743200"/>
            <a:ext cx="3063240" cy="320040"/>
          </a:xfrm>
          <a:prstGeom prst="rect">
            <a:avLst/>
          </a:prstGeom>
          <a:noFill/>
          <a:ln/>
        </p:spPr>
        <p:txBody>
          <a:bodyPr wrap="square" lIns="0" tIns="0" rIns="0" bIns="0" rtlCol="0" anchor="ctr"/>
          <a:lstStyle/>
          <a:p>
            <a:pPr indent="0" marL="0">
              <a:buNone/>
            </a:pPr>
            <a:r>
              <a:rPr lang="en-US" sz="1400" i="1" dirty="0">
                <a:solidFill>
                  <a:srgbClr val="CFC5AC"/>
                </a:solidFill>
                <a:latin typeface="Cambria" pitchFamily="34" charset="0"/>
                <a:ea typeface="Cambria" pitchFamily="34" charset="-122"/>
                <a:cs typeface="Cambria" pitchFamily="34" charset="-120"/>
              </a:rPr>
              <a:t>Post-launch, growing</a:t>
            </a:r>
            <a:endParaRPr lang="en-US" sz="1400" dirty="0"/>
          </a:p>
        </p:txBody>
      </p:sp>
      <p:sp>
        <p:nvSpPr>
          <p:cNvPr id="7" name="Text 5"/>
          <p:cNvSpPr/>
          <p:nvPr/>
        </p:nvSpPr>
        <p:spPr>
          <a:xfrm>
            <a:off x="1005840" y="3291840"/>
            <a:ext cx="3063240" cy="96012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₹85,000</a:t>
            </a:r>
            <a:endParaRPr lang="en-US" sz="4200" dirty="0"/>
          </a:p>
        </p:txBody>
      </p:sp>
      <p:sp>
        <p:nvSpPr>
          <p:cNvPr id="8" name="Text 6"/>
          <p:cNvSpPr/>
          <p:nvPr/>
        </p:nvSpPr>
        <p:spPr>
          <a:xfrm>
            <a:off x="1005840" y="4343400"/>
            <a:ext cx="3063240" cy="274320"/>
          </a:xfrm>
          <a:prstGeom prst="rect">
            <a:avLst/>
          </a:prstGeom>
          <a:noFill/>
          <a:ln/>
        </p:spPr>
        <p:txBody>
          <a:bodyPr wrap="square" lIns="0" tIns="0" rIns="0" bIns="0" rtlCol="0" anchor="ctr"/>
          <a:lstStyle/>
          <a:p>
            <a:pPr indent="0" marL="0">
              <a:buNone/>
            </a:pPr>
            <a:r>
              <a:rPr lang="en-US" sz="1200" i="1" dirty="0">
                <a:solidFill>
                  <a:srgbClr val="7A8AA8"/>
                </a:solidFill>
                <a:latin typeface="Calibri" pitchFamily="34" charset="0"/>
                <a:ea typeface="Calibri" pitchFamily="34" charset="-122"/>
                <a:cs typeface="Calibri" pitchFamily="34" charset="-120"/>
              </a:rPr>
              <a:t>over 2 years</a:t>
            </a:r>
            <a:endParaRPr lang="en-US" sz="1200" dirty="0"/>
          </a:p>
        </p:txBody>
      </p:sp>
      <p:sp>
        <p:nvSpPr>
          <p:cNvPr id="9" name="Shape 7"/>
          <p:cNvSpPr/>
          <p:nvPr/>
        </p:nvSpPr>
        <p:spPr>
          <a:xfrm>
            <a:off x="4572000" y="2103120"/>
            <a:ext cx="3611880" cy="2834640"/>
          </a:xfrm>
          <a:prstGeom prst="roundRect">
            <a:avLst>
              <a:gd name="adj" fmla="val 3226"/>
            </a:avLst>
          </a:prstGeom>
          <a:solidFill>
            <a:srgbClr val="14263F"/>
          </a:solidFill>
          <a:ln w="19050">
            <a:solidFill>
              <a:srgbClr val="F0994A"/>
            </a:solidFill>
            <a:prstDash val="solid"/>
          </a:ln>
        </p:spPr>
      </p:sp>
      <p:sp>
        <p:nvSpPr>
          <p:cNvPr id="10" name="Text 8"/>
          <p:cNvSpPr/>
          <p:nvPr/>
        </p:nvSpPr>
        <p:spPr>
          <a:xfrm>
            <a:off x="4846320" y="2377440"/>
            <a:ext cx="3063240" cy="36576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50 – 100 CCU</a:t>
            </a:r>
            <a:endParaRPr lang="en-US" sz="1100" dirty="0"/>
          </a:p>
        </p:txBody>
      </p:sp>
      <p:sp>
        <p:nvSpPr>
          <p:cNvPr id="11" name="Text 9"/>
          <p:cNvSpPr/>
          <p:nvPr/>
        </p:nvSpPr>
        <p:spPr>
          <a:xfrm>
            <a:off x="4846320" y="2743200"/>
            <a:ext cx="3063240" cy="320040"/>
          </a:xfrm>
          <a:prstGeom prst="rect">
            <a:avLst/>
          </a:prstGeom>
          <a:noFill/>
          <a:ln/>
        </p:spPr>
        <p:txBody>
          <a:bodyPr wrap="square" lIns="0" tIns="0" rIns="0" bIns="0" rtlCol="0" anchor="ctr"/>
          <a:lstStyle/>
          <a:p>
            <a:pPr indent="0" marL="0">
              <a:buNone/>
            </a:pPr>
            <a:r>
              <a:rPr lang="en-US" sz="1400" i="1" dirty="0">
                <a:solidFill>
                  <a:srgbClr val="CFC5AC"/>
                </a:solidFill>
                <a:latin typeface="Cambria" pitchFamily="34" charset="0"/>
                <a:ea typeface="Cambria" pitchFamily="34" charset="-122"/>
                <a:cs typeface="Cambria" pitchFamily="34" charset="-120"/>
              </a:rPr>
              <a:t>Established D2C</a:t>
            </a:r>
            <a:endParaRPr lang="en-US" sz="1400" dirty="0"/>
          </a:p>
        </p:txBody>
      </p:sp>
      <p:sp>
        <p:nvSpPr>
          <p:cNvPr id="12" name="Text 10"/>
          <p:cNvSpPr/>
          <p:nvPr/>
        </p:nvSpPr>
        <p:spPr>
          <a:xfrm>
            <a:off x="4846320" y="3291840"/>
            <a:ext cx="3063240" cy="96012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₹1,80,000</a:t>
            </a:r>
            <a:endParaRPr lang="en-US" sz="4200" dirty="0"/>
          </a:p>
        </p:txBody>
      </p:sp>
      <p:sp>
        <p:nvSpPr>
          <p:cNvPr id="13" name="Text 11"/>
          <p:cNvSpPr/>
          <p:nvPr/>
        </p:nvSpPr>
        <p:spPr>
          <a:xfrm>
            <a:off x="4846320" y="4343400"/>
            <a:ext cx="3063240" cy="274320"/>
          </a:xfrm>
          <a:prstGeom prst="rect">
            <a:avLst/>
          </a:prstGeom>
          <a:noFill/>
          <a:ln/>
        </p:spPr>
        <p:txBody>
          <a:bodyPr wrap="square" lIns="0" tIns="0" rIns="0" bIns="0" rtlCol="0" anchor="ctr"/>
          <a:lstStyle/>
          <a:p>
            <a:pPr indent="0" marL="0">
              <a:buNone/>
            </a:pPr>
            <a:r>
              <a:rPr lang="en-US" sz="1200" i="1" dirty="0">
                <a:solidFill>
                  <a:srgbClr val="7A8AA8"/>
                </a:solidFill>
                <a:latin typeface="Calibri" pitchFamily="34" charset="0"/>
                <a:ea typeface="Calibri" pitchFamily="34" charset="-122"/>
                <a:cs typeface="Calibri" pitchFamily="34" charset="-120"/>
              </a:rPr>
              <a:t>over 2 years</a:t>
            </a:r>
            <a:endParaRPr lang="en-US" sz="1200" dirty="0"/>
          </a:p>
        </p:txBody>
      </p:sp>
      <p:sp>
        <p:nvSpPr>
          <p:cNvPr id="14" name="Shape 12"/>
          <p:cNvSpPr/>
          <p:nvPr/>
        </p:nvSpPr>
        <p:spPr>
          <a:xfrm>
            <a:off x="8412480" y="2103120"/>
            <a:ext cx="3611880" cy="2834640"/>
          </a:xfrm>
          <a:prstGeom prst="roundRect">
            <a:avLst>
              <a:gd name="adj" fmla="val 3226"/>
            </a:avLst>
          </a:prstGeom>
          <a:solidFill>
            <a:srgbClr val="14263F"/>
          </a:solidFill>
          <a:ln w="19050">
            <a:solidFill>
              <a:srgbClr val="E9C36B"/>
            </a:solidFill>
            <a:prstDash val="solid"/>
          </a:ln>
        </p:spPr>
      </p:sp>
      <p:sp>
        <p:nvSpPr>
          <p:cNvPr id="15" name="Text 13"/>
          <p:cNvSpPr/>
          <p:nvPr/>
        </p:nvSpPr>
        <p:spPr>
          <a:xfrm>
            <a:off x="8686800" y="2377440"/>
            <a:ext cx="3063240" cy="36576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100 – 200 CCU</a:t>
            </a:r>
            <a:endParaRPr lang="en-US" sz="1100" dirty="0"/>
          </a:p>
        </p:txBody>
      </p:sp>
      <p:sp>
        <p:nvSpPr>
          <p:cNvPr id="16" name="Text 14"/>
          <p:cNvSpPr/>
          <p:nvPr/>
        </p:nvSpPr>
        <p:spPr>
          <a:xfrm>
            <a:off x="8686800" y="2743200"/>
            <a:ext cx="3063240" cy="320040"/>
          </a:xfrm>
          <a:prstGeom prst="rect">
            <a:avLst/>
          </a:prstGeom>
          <a:noFill/>
          <a:ln/>
        </p:spPr>
        <p:txBody>
          <a:bodyPr wrap="square" lIns="0" tIns="0" rIns="0" bIns="0" rtlCol="0" anchor="ctr"/>
          <a:lstStyle/>
          <a:p>
            <a:pPr indent="0" marL="0">
              <a:buNone/>
            </a:pPr>
            <a:r>
              <a:rPr lang="en-US" sz="1400" i="1" dirty="0">
                <a:solidFill>
                  <a:srgbClr val="CFC5AC"/>
                </a:solidFill>
                <a:latin typeface="Cambria" pitchFamily="34" charset="0"/>
                <a:ea typeface="Cambria" pitchFamily="34" charset="-122"/>
                <a:cs typeface="Cambria" pitchFamily="34" charset="-120"/>
              </a:rPr>
              <a:t>Well past PMF</a:t>
            </a:r>
            <a:endParaRPr lang="en-US" sz="1400" dirty="0"/>
          </a:p>
        </p:txBody>
      </p:sp>
      <p:sp>
        <p:nvSpPr>
          <p:cNvPr id="17" name="Text 15"/>
          <p:cNvSpPr/>
          <p:nvPr/>
        </p:nvSpPr>
        <p:spPr>
          <a:xfrm>
            <a:off x="8686800" y="3291840"/>
            <a:ext cx="3063240" cy="96012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₹3,50,000</a:t>
            </a:r>
            <a:endParaRPr lang="en-US" sz="4200" dirty="0"/>
          </a:p>
        </p:txBody>
      </p:sp>
      <p:sp>
        <p:nvSpPr>
          <p:cNvPr id="18" name="Text 16"/>
          <p:cNvSpPr/>
          <p:nvPr/>
        </p:nvSpPr>
        <p:spPr>
          <a:xfrm>
            <a:off x="8686800" y="4343400"/>
            <a:ext cx="3063240" cy="274320"/>
          </a:xfrm>
          <a:prstGeom prst="rect">
            <a:avLst/>
          </a:prstGeom>
          <a:noFill/>
          <a:ln/>
        </p:spPr>
        <p:txBody>
          <a:bodyPr wrap="square" lIns="0" tIns="0" rIns="0" bIns="0" rtlCol="0" anchor="ctr"/>
          <a:lstStyle/>
          <a:p>
            <a:pPr indent="0" marL="0">
              <a:buNone/>
            </a:pPr>
            <a:r>
              <a:rPr lang="en-US" sz="1200" i="1" dirty="0">
                <a:solidFill>
                  <a:srgbClr val="7A8AA8"/>
                </a:solidFill>
                <a:latin typeface="Calibri" pitchFamily="34" charset="0"/>
                <a:ea typeface="Calibri" pitchFamily="34" charset="-122"/>
                <a:cs typeface="Calibri" pitchFamily="34" charset="-120"/>
              </a:rPr>
              <a:t>over 2 years</a:t>
            </a:r>
            <a:endParaRPr lang="en-US" sz="1200" dirty="0"/>
          </a:p>
        </p:txBody>
      </p:sp>
      <p:sp>
        <p:nvSpPr>
          <p:cNvPr id="19" name="Shape 17"/>
          <p:cNvSpPr/>
          <p:nvPr/>
        </p:nvSpPr>
        <p:spPr>
          <a:xfrm>
            <a:off x="731520" y="5257800"/>
            <a:ext cx="10698480" cy="1051560"/>
          </a:xfrm>
          <a:prstGeom prst="roundRect">
            <a:avLst>
              <a:gd name="adj" fmla="val 8696"/>
            </a:avLst>
          </a:prstGeom>
          <a:solidFill>
            <a:srgbClr val="1A2E48"/>
          </a:solidFill>
          <a:ln w="6350">
            <a:solidFill>
              <a:srgbClr val="2A3F5A"/>
            </a:solidFill>
            <a:prstDash val="solid"/>
          </a:ln>
        </p:spPr>
      </p:sp>
      <p:sp>
        <p:nvSpPr>
          <p:cNvPr id="20" name="Text 18"/>
          <p:cNvSpPr/>
          <p:nvPr/>
        </p:nvSpPr>
        <p:spPr>
          <a:xfrm>
            <a:off x="1005840" y="5394960"/>
            <a:ext cx="10149840" cy="777240"/>
          </a:xfrm>
          <a:prstGeom prst="rect">
            <a:avLst/>
          </a:prstGeom>
          <a:noFill/>
          <a:ln/>
        </p:spPr>
        <p:txBody>
          <a:bodyPr wrap="square" lIns="0" tIns="0" rIns="0" bIns="0" rtlCol="0" anchor="ctr"/>
          <a:lstStyle/>
          <a:p>
            <a:pPr indent="0" marL="0">
              <a:buNone/>
            </a:pPr>
            <a:r>
              <a:rPr lang="en-US" sz="1500" b="1" dirty="0">
                <a:solidFill>
                  <a:srgbClr val="F0994A"/>
                </a:solidFill>
                <a:latin typeface="Calibri" pitchFamily="34" charset="0"/>
                <a:ea typeface="Calibri" pitchFamily="34" charset="-122"/>
                <a:cs typeface="Calibri" pitchFamily="34" charset="-120"/>
              </a:rPr>
              <a:t>The consistent insight: </a:t>
            </a:r>
            <a:pPr indent="0" marL="0">
              <a:buNone/>
            </a:pPr>
            <a:r>
              <a:rPr lang="en-US" sz="1500" dirty="0">
                <a:solidFill>
                  <a:srgbClr val="F5EDD8"/>
                </a:solidFill>
                <a:latin typeface="Cambria" pitchFamily="34" charset="0"/>
                <a:ea typeface="Cambria" pitchFamily="34" charset="-122"/>
                <a:cs typeface="Cambria" pitchFamily="34" charset="-120"/>
              </a:rPr>
              <a:t>cost per order stays at ~₹1.80–₹1.90 across every band. Infra is a rounding error against revenue (0.4–0.5%) at every stage.</a:t>
            </a:r>
            <a:endParaRPr lang="en-US" sz="1500" dirty="0"/>
          </a:p>
        </p:txBody>
      </p:sp>
      <p:sp>
        <p:nvSpPr>
          <p:cNvPr id="21" name="Text 1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22" name="Text 2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02 / 16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What is CCU</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Concurrent users, </a:t>
            </a:r>
            <a:pPr indent="0" marL="0">
              <a:buNone/>
            </a:pPr>
            <a:r>
              <a:rPr lang="en-US" sz="4000" b="1" i="1" dirty="0">
                <a:solidFill>
                  <a:srgbClr val="F0994A"/>
                </a:solidFill>
                <a:latin typeface="Cambria" pitchFamily="34" charset="0"/>
                <a:ea typeface="Cambria" pitchFamily="34" charset="-122"/>
                <a:cs typeface="Cambria" pitchFamily="34" charset="-120"/>
              </a:rPr>
              <a:t>translated.</a:t>
            </a:r>
            <a:endParaRPr lang="en-US" sz="4000" dirty="0"/>
          </a:p>
        </p:txBody>
      </p:sp>
      <p:sp>
        <p:nvSpPr>
          <p:cNvPr id="4" name="Text 2"/>
          <p:cNvSpPr/>
          <p:nvPr/>
        </p:nvSpPr>
        <p:spPr>
          <a:xfrm>
            <a:off x="731520" y="1920240"/>
            <a:ext cx="10515600" cy="822960"/>
          </a:xfrm>
          <a:prstGeom prst="rect">
            <a:avLst/>
          </a:prstGeom>
          <a:noFill/>
          <a:ln/>
        </p:spPr>
        <p:txBody>
          <a:bodyPr wrap="square" lIns="0" tIns="0" rIns="0" bIns="0" rtlCol="0" anchor="ctr"/>
          <a:lstStyle/>
          <a:p>
            <a:pPr indent="0" marL="0">
              <a:buNone/>
            </a:pPr>
            <a:r>
              <a:rPr lang="en-US" sz="1500" dirty="0">
                <a:solidFill>
                  <a:srgbClr val="CFC5AC"/>
                </a:solidFill>
                <a:latin typeface="Cambria" pitchFamily="34" charset="0"/>
                <a:ea typeface="Cambria" pitchFamily="34" charset="-122"/>
                <a:cs typeface="Cambria" pitchFamily="34" charset="-120"/>
              </a:rPr>
              <a:t>CCU is the number of people using the site at the exact same second. What you actually care about is how many customers, orders, and rupees that maps to. Here's the translation.</a:t>
            </a:r>
            <a:endParaRPr lang="en-US" sz="1500" dirty="0"/>
          </a:p>
        </p:txBody>
      </p:sp>
      <p:sp>
        <p:nvSpPr>
          <p:cNvPr id="5" name="Shape 3"/>
          <p:cNvSpPr/>
          <p:nvPr/>
        </p:nvSpPr>
        <p:spPr>
          <a:xfrm>
            <a:off x="731520" y="2926080"/>
            <a:ext cx="10698480" cy="384048"/>
          </a:xfrm>
          <a:prstGeom prst="rect">
            <a:avLst/>
          </a:prstGeom>
          <a:solidFill>
            <a:srgbClr val="1A2E48"/>
          </a:solidFill>
          <a:ln w="6350">
            <a:solidFill>
              <a:srgbClr val="2A3F5A"/>
            </a:solidFill>
            <a:prstDash val="solid"/>
          </a:ln>
        </p:spPr>
      </p:sp>
      <p:sp>
        <p:nvSpPr>
          <p:cNvPr id="6" name="Text 4"/>
          <p:cNvSpPr/>
          <p:nvPr/>
        </p:nvSpPr>
        <p:spPr>
          <a:xfrm>
            <a:off x="822960" y="2926080"/>
            <a:ext cx="18745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Concurrent users</a:t>
            </a:r>
            <a:endParaRPr lang="en-US" sz="1100" dirty="0"/>
          </a:p>
        </p:txBody>
      </p:sp>
      <p:sp>
        <p:nvSpPr>
          <p:cNvPr id="7" name="Text 5"/>
          <p:cNvSpPr/>
          <p:nvPr/>
        </p:nvSpPr>
        <p:spPr>
          <a:xfrm>
            <a:off x="2834640" y="2926080"/>
            <a:ext cx="18745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Daily visitors</a:t>
            </a:r>
            <a:endParaRPr lang="en-US" sz="1100" dirty="0"/>
          </a:p>
        </p:txBody>
      </p:sp>
      <p:sp>
        <p:nvSpPr>
          <p:cNvPr id="8" name="Text 6"/>
          <p:cNvSpPr/>
          <p:nvPr/>
        </p:nvSpPr>
        <p:spPr>
          <a:xfrm>
            <a:off x="4846320" y="2926080"/>
            <a:ext cx="205740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Monthly orders</a:t>
            </a:r>
            <a:endParaRPr lang="en-US" sz="1100" dirty="0"/>
          </a:p>
        </p:txBody>
      </p:sp>
      <p:sp>
        <p:nvSpPr>
          <p:cNvPr id="9" name="Text 7"/>
          <p:cNvSpPr/>
          <p:nvPr/>
        </p:nvSpPr>
        <p:spPr>
          <a:xfrm>
            <a:off x="7040880" y="2926080"/>
            <a:ext cx="434340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Business stage</a:t>
            </a:r>
            <a:endParaRPr lang="en-US" sz="1100" dirty="0"/>
          </a:p>
        </p:txBody>
      </p:sp>
      <p:sp>
        <p:nvSpPr>
          <p:cNvPr id="10" name="Shape 8"/>
          <p:cNvSpPr/>
          <p:nvPr/>
        </p:nvSpPr>
        <p:spPr>
          <a:xfrm>
            <a:off x="731520" y="3310128"/>
            <a:ext cx="10698480" cy="365760"/>
          </a:xfrm>
          <a:prstGeom prst="rect">
            <a:avLst/>
          </a:prstGeom>
          <a:solidFill>
            <a:srgbClr val="14263F"/>
          </a:solidFill>
          <a:ln w="3810">
            <a:solidFill>
              <a:srgbClr val="2A3F5A"/>
            </a:solidFill>
            <a:prstDash val="solid"/>
          </a:ln>
        </p:spPr>
      </p:sp>
      <p:sp>
        <p:nvSpPr>
          <p:cNvPr id="11" name="Text 9"/>
          <p:cNvSpPr/>
          <p:nvPr/>
        </p:nvSpPr>
        <p:spPr>
          <a:xfrm>
            <a:off x="822960" y="331012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 – 5 CCU</a:t>
            </a:r>
            <a:endParaRPr lang="en-US" sz="1200" dirty="0"/>
          </a:p>
        </p:txBody>
      </p:sp>
      <p:sp>
        <p:nvSpPr>
          <p:cNvPr id="12" name="Text 10"/>
          <p:cNvSpPr/>
          <p:nvPr/>
        </p:nvSpPr>
        <p:spPr>
          <a:xfrm>
            <a:off x="2834640" y="331012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 – 1,500</a:t>
            </a:r>
            <a:endParaRPr lang="en-US" sz="1200" dirty="0"/>
          </a:p>
        </p:txBody>
      </p:sp>
      <p:sp>
        <p:nvSpPr>
          <p:cNvPr id="13" name="Text 11"/>
          <p:cNvSpPr/>
          <p:nvPr/>
        </p:nvSpPr>
        <p:spPr>
          <a:xfrm>
            <a:off x="4846320" y="331012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 – 300</a:t>
            </a:r>
            <a:endParaRPr lang="en-US" sz="1200" dirty="0"/>
          </a:p>
        </p:txBody>
      </p:sp>
      <p:sp>
        <p:nvSpPr>
          <p:cNvPr id="14" name="Text 12"/>
          <p:cNvSpPr/>
          <p:nvPr/>
        </p:nvSpPr>
        <p:spPr>
          <a:xfrm>
            <a:off x="7040880" y="331012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Testing, friends &amp; family</a:t>
            </a:r>
            <a:endParaRPr lang="en-US" sz="1200" dirty="0"/>
          </a:p>
        </p:txBody>
      </p:sp>
      <p:sp>
        <p:nvSpPr>
          <p:cNvPr id="15" name="Shape 13"/>
          <p:cNvSpPr/>
          <p:nvPr/>
        </p:nvSpPr>
        <p:spPr>
          <a:xfrm>
            <a:off x="731520" y="367588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67588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10 – 25 CCU</a:t>
            </a:r>
            <a:endParaRPr lang="en-US" sz="1200" dirty="0"/>
          </a:p>
        </p:txBody>
      </p:sp>
      <p:sp>
        <p:nvSpPr>
          <p:cNvPr id="17" name="Text 15"/>
          <p:cNvSpPr/>
          <p:nvPr/>
        </p:nvSpPr>
        <p:spPr>
          <a:xfrm>
            <a:off x="2834640" y="367588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 – 7,500</a:t>
            </a:r>
            <a:endParaRPr lang="en-US" sz="1200" dirty="0"/>
          </a:p>
        </p:txBody>
      </p:sp>
      <p:sp>
        <p:nvSpPr>
          <p:cNvPr id="18" name="Text 16"/>
          <p:cNvSpPr/>
          <p:nvPr/>
        </p:nvSpPr>
        <p:spPr>
          <a:xfrm>
            <a:off x="4846320" y="367588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600 – 1,500</a:t>
            </a:r>
            <a:endParaRPr lang="en-US" sz="1200" dirty="0"/>
          </a:p>
        </p:txBody>
      </p:sp>
      <p:sp>
        <p:nvSpPr>
          <p:cNvPr id="19" name="Text 17"/>
          <p:cNvSpPr/>
          <p:nvPr/>
        </p:nvSpPr>
        <p:spPr>
          <a:xfrm>
            <a:off x="7040880" y="367588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Launched, word of mouth working</a:t>
            </a:r>
            <a:endParaRPr lang="en-US" sz="1200" dirty="0"/>
          </a:p>
        </p:txBody>
      </p:sp>
      <p:sp>
        <p:nvSpPr>
          <p:cNvPr id="20" name="Shape 18"/>
          <p:cNvSpPr/>
          <p:nvPr/>
        </p:nvSpPr>
        <p:spPr>
          <a:xfrm>
            <a:off x="731520" y="4041648"/>
            <a:ext cx="10698480" cy="365760"/>
          </a:xfrm>
          <a:prstGeom prst="rect">
            <a:avLst/>
          </a:prstGeom>
          <a:solidFill>
            <a:srgbClr val="14263F"/>
          </a:solidFill>
          <a:ln w="3810">
            <a:solidFill>
              <a:srgbClr val="2A3F5A"/>
            </a:solidFill>
            <a:prstDash val="solid"/>
          </a:ln>
        </p:spPr>
      </p:sp>
      <p:sp>
        <p:nvSpPr>
          <p:cNvPr id="21" name="Text 19"/>
          <p:cNvSpPr/>
          <p:nvPr/>
        </p:nvSpPr>
        <p:spPr>
          <a:xfrm>
            <a:off x="822960" y="404164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25 – 50 CCU</a:t>
            </a:r>
            <a:endParaRPr lang="en-US" sz="1200" dirty="0"/>
          </a:p>
        </p:txBody>
      </p:sp>
      <p:sp>
        <p:nvSpPr>
          <p:cNvPr id="22" name="Text 20"/>
          <p:cNvSpPr/>
          <p:nvPr/>
        </p:nvSpPr>
        <p:spPr>
          <a:xfrm>
            <a:off x="2834640" y="404164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7,500 – 15,000</a:t>
            </a:r>
            <a:endParaRPr lang="en-US" sz="1200" dirty="0"/>
          </a:p>
        </p:txBody>
      </p:sp>
      <p:sp>
        <p:nvSpPr>
          <p:cNvPr id="23" name="Text 21"/>
          <p:cNvSpPr/>
          <p:nvPr/>
        </p:nvSpPr>
        <p:spPr>
          <a:xfrm>
            <a:off x="4846320" y="404164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1,500 – 3,000</a:t>
            </a:r>
            <a:endParaRPr lang="en-US" sz="1200" dirty="0"/>
          </a:p>
        </p:txBody>
      </p:sp>
      <p:sp>
        <p:nvSpPr>
          <p:cNvPr id="24" name="Text 22"/>
          <p:cNvSpPr/>
          <p:nvPr/>
        </p:nvSpPr>
        <p:spPr>
          <a:xfrm>
            <a:off x="7040880" y="404164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Steady growth, first paid ads working</a:t>
            </a:r>
            <a:endParaRPr lang="en-US" sz="1200" dirty="0"/>
          </a:p>
        </p:txBody>
      </p:sp>
      <p:sp>
        <p:nvSpPr>
          <p:cNvPr id="25" name="Shape 23"/>
          <p:cNvSpPr/>
          <p:nvPr/>
        </p:nvSpPr>
        <p:spPr>
          <a:xfrm>
            <a:off x="731520" y="4407408"/>
            <a:ext cx="10698480" cy="365760"/>
          </a:xfrm>
          <a:prstGeom prst="rect">
            <a:avLst/>
          </a:prstGeom>
          <a:solidFill>
            <a:srgbClr val="0B1520"/>
          </a:solidFill>
          <a:ln w="3810">
            <a:solidFill>
              <a:srgbClr val="2A3F5A"/>
            </a:solidFill>
            <a:prstDash val="solid"/>
          </a:ln>
        </p:spPr>
      </p:sp>
      <p:sp>
        <p:nvSpPr>
          <p:cNvPr id="26" name="Text 24"/>
          <p:cNvSpPr/>
          <p:nvPr/>
        </p:nvSpPr>
        <p:spPr>
          <a:xfrm>
            <a:off x="822960" y="440740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50 – 100 CCU</a:t>
            </a:r>
            <a:endParaRPr lang="en-US" sz="1200" dirty="0"/>
          </a:p>
        </p:txBody>
      </p:sp>
      <p:sp>
        <p:nvSpPr>
          <p:cNvPr id="27" name="Text 25"/>
          <p:cNvSpPr/>
          <p:nvPr/>
        </p:nvSpPr>
        <p:spPr>
          <a:xfrm>
            <a:off x="2834640" y="440740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15,000 – 25,000</a:t>
            </a:r>
            <a:endParaRPr lang="en-US" sz="1200" dirty="0"/>
          </a:p>
        </p:txBody>
      </p:sp>
      <p:sp>
        <p:nvSpPr>
          <p:cNvPr id="28" name="Text 26"/>
          <p:cNvSpPr/>
          <p:nvPr/>
        </p:nvSpPr>
        <p:spPr>
          <a:xfrm>
            <a:off x="4846320" y="440740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 – 5,000</a:t>
            </a:r>
            <a:endParaRPr lang="en-US" sz="1200" dirty="0"/>
          </a:p>
        </p:txBody>
      </p:sp>
      <p:sp>
        <p:nvSpPr>
          <p:cNvPr id="29" name="Text 27"/>
          <p:cNvSpPr/>
          <p:nvPr/>
        </p:nvSpPr>
        <p:spPr>
          <a:xfrm>
            <a:off x="7040880" y="440740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Established D2C brand</a:t>
            </a:r>
            <a:endParaRPr lang="en-US" sz="1200" dirty="0"/>
          </a:p>
        </p:txBody>
      </p:sp>
      <p:sp>
        <p:nvSpPr>
          <p:cNvPr id="30" name="Shape 28"/>
          <p:cNvSpPr/>
          <p:nvPr/>
        </p:nvSpPr>
        <p:spPr>
          <a:xfrm>
            <a:off x="731520" y="4773168"/>
            <a:ext cx="10698480" cy="365760"/>
          </a:xfrm>
          <a:prstGeom prst="rect">
            <a:avLst/>
          </a:prstGeom>
          <a:solidFill>
            <a:srgbClr val="14263F"/>
          </a:solidFill>
          <a:ln w="3810">
            <a:solidFill>
              <a:srgbClr val="2A3F5A"/>
            </a:solidFill>
            <a:prstDash val="solid"/>
          </a:ln>
        </p:spPr>
      </p:sp>
      <p:sp>
        <p:nvSpPr>
          <p:cNvPr id="31" name="Text 29"/>
          <p:cNvSpPr/>
          <p:nvPr/>
        </p:nvSpPr>
        <p:spPr>
          <a:xfrm>
            <a:off x="822960" y="477316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100 – 200 CCU</a:t>
            </a:r>
            <a:endParaRPr lang="en-US" sz="1200" dirty="0"/>
          </a:p>
        </p:txBody>
      </p:sp>
      <p:sp>
        <p:nvSpPr>
          <p:cNvPr id="32" name="Text 30"/>
          <p:cNvSpPr/>
          <p:nvPr/>
        </p:nvSpPr>
        <p:spPr>
          <a:xfrm>
            <a:off x="2834640" y="477316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30,000 – 50,000</a:t>
            </a:r>
            <a:endParaRPr lang="en-US" sz="1200" dirty="0"/>
          </a:p>
        </p:txBody>
      </p:sp>
      <p:sp>
        <p:nvSpPr>
          <p:cNvPr id="33" name="Text 31"/>
          <p:cNvSpPr/>
          <p:nvPr/>
        </p:nvSpPr>
        <p:spPr>
          <a:xfrm>
            <a:off x="4846320" y="477316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6,000 – 10,000</a:t>
            </a:r>
            <a:endParaRPr lang="en-US" sz="1200" dirty="0"/>
          </a:p>
        </p:txBody>
      </p:sp>
      <p:sp>
        <p:nvSpPr>
          <p:cNvPr id="34" name="Text 32"/>
          <p:cNvSpPr/>
          <p:nvPr/>
        </p:nvSpPr>
        <p:spPr>
          <a:xfrm>
            <a:off x="7040880" y="477316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Well past product-market fit</a:t>
            </a:r>
            <a:endParaRPr lang="en-US" sz="1200" dirty="0"/>
          </a:p>
        </p:txBody>
      </p:sp>
      <p:sp>
        <p:nvSpPr>
          <p:cNvPr id="35" name="Shape 33"/>
          <p:cNvSpPr/>
          <p:nvPr/>
        </p:nvSpPr>
        <p:spPr>
          <a:xfrm>
            <a:off x="731520" y="5138928"/>
            <a:ext cx="10698480" cy="365760"/>
          </a:xfrm>
          <a:prstGeom prst="rect">
            <a:avLst/>
          </a:prstGeom>
          <a:solidFill>
            <a:srgbClr val="0B1520"/>
          </a:solidFill>
          <a:ln w="3810">
            <a:solidFill>
              <a:srgbClr val="2A3F5A"/>
            </a:solidFill>
            <a:prstDash val="solid"/>
          </a:ln>
        </p:spPr>
      </p:sp>
      <p:sp>
        <p:nvSpPr>
          <p:cNvPr id="36" name="Text 34"/>
          <p:cNvSpPr/>
          <p:nvPr/>
        </p:nvSpPr>
        <p:spPr>
          <a:xfrm>
            <a:off x="822960" y="5138928"/>
            <a:ext cx="187452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200+ CCU</a:t>
            </a:r>
            <a:endParaRPr lang="en-US" sz="1200" dirty="0"/>
          </a:p>
        </p:txBody>
      </p:sp>
      <p:sp>
        <p:nvSpPr>
          <p:cNvPr id="37" name="Text 35"/>
          <p:cNvSpPr/>
          <p:nvPr/>
        </p:nvSpPr>
        <p:spPr>
          <a:xfrm>
            <a:off x="2834640" y="5138928"/>
            <a:ext cx="18745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50,000+</a:t>
            </a:r>
            <a:endParaRPr lang="en-US" sz="1200" dirty="0"/>
          </a:p>
        </p:txBody>
      </p:sp>
      <p:sp>
        <p:nvSpPr>
          <p:cNvPr id="38" name="Text 36"/>
          <p:cNvSpPr/>
          <p:nvPr/>
        </p:nvSpPr>
        <p:spPr>
          <a:xfrm>
            <a:off x="4846320" y="5138928"/>
            <a:ext cx="205740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10,000+</a:t>
            </a:r>
            <a:endParaRPr lang="en-US" sz="1200" dirty="0"/>
          </a:p>
        </p:txBody>
      </p:sp>
      <p:sp>
        <p:nvSpPr>
          <p:cNvPr id="39" name="Text 37"/>
          <p:cNvSpPr/>
          <p:nvPr/>
        </p:nvSpPr>
        <p:spPr>
          <a:xfrm>
            <a:off x="7040880" y="5138928"/>
            <a:ext cx="434340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You're a household name</a:t>
            </a:r>
            <a:endParaRPr lang="en-US" sz="1200" dirty="0"/>
          </a:p>
        </p:txBody>
      </p:sp>
      <p:sp>
        <p:nvSpPr>
          <p:cNvPr id="40" name="Text 38"/>
          <p:cNvSpPr/>
          <p:nvPr/>
        </p:nvSpPr>
        <p:spPr>
          <a:xfrm>
            <a:off x="731520" y="5943600"/>
            <a:ext cx="10698480" cy="320040"/>
          </a:xfrm>
          <a:prstGeom prst="rect">
            <a:avLst/>
          </a:prstGeom>
          <a:noFill/>
          <a:ln/>
        </p:spPr>
        <p:txBody>
          <a:bodyPr wrap="square" lIns="0" tIns="0" rIns="0" bIns="0" rtlCol="0" anchor="ctr"/>
          <a:lstStyle/>
          <a:p>
            <a:pPr indent="0" marL="0">
              <a:buNone/>
            </a:pPr>
            <a:r>
              <a:rPr lang="en-US" sz="1200" i="1" dirty="0">
                <a:solidFill>
                  <a:srgbClr val="7A8AA8"/>
                </a:solidFill>
                <a:latin typeface="Cambria" pitchFamily="34" charset="0"/>
                <a:ea typeface="Cambria" pitchFamily="34" charset="-122"/>
                <a:cs typeface="Cambria" pitchFamily="34" charset="-120"/>
              </a:rPr>
              <a:t>Assumes ~3–5 min sessions, ~1 % cart conversion. Your baseline right now sits at 1 – 3 CCU.</a:t>
            </a:r>
            <a:endParaRPr lang="en-US" sz="1200" dirty="0"/>
          </a:p>
        </p:txBody>
      </p:sp>
      <p:sp>
        <p:nvSpPr>
          <p:cNvPr id="41" name="Text 3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2" name="Text 4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03 / 16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Assumptions</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How the </a:t>
            </a:r>
            <a:pPr indent="0" marL="0">
              <a:buNone/>
            </a:pPr>
            <a:r>
              <a:rPr lang="en-US" sz="4000" b="1" i="1" dirty="0">
                <a:solidFill>
                  <a:srgbClr val="F0994A"/>
                </a:solidFill>
                <a:latin typeface="Cambria" pitchFamily="34" charset="0"/>
                <a:ea typeface="Cambria" pitchFamily="34" charset="-122"/>
                <a:cs typeface="Cambria" pitchFamily="34" charset="-120"/>
              </a:rPr>
              <a:t>numbers were built</a:t>
            </a:r>
            <a:pPr indent="0" marL="0">
              <a:buNone/>
            </a:pPr>
            <a:r>
              <a:rPr lang="en-US" sz="4000" b="1" dirty="0">
                <a:solidFill>
                  <a:srgbClr val="F5EDD8"/>
                </a:solidFill>
                <a:latin typeface="Cambria" pitchFamily="34" charset="0"/>
                <a:ea typeface="Cambria" pitchFamily="34" charset="-122"/>
                <a:cs typeface="Cambria" pitchFamily="34" charset="-120"/>
              </a:rPr>
              <a:t>.</a:t>
            </a:r>
            <a:endParaRPr lang="en-US" sz="4000" dirty="0"/>
          </a:p>
        </p:txBody>
      </p:sp>
      <p:sp>
        <p:nvSpPr>
          <p:cNvPr id="4" name="Shape 2"/>
          <p:cNvSpPr/>
          <p:nvPr/>
        </p:nvSpPr>
        <p:spPr>
          <a:xfrm>
            <a:off x="731520" y="1965960"/>
            <a:ext cx="5394960" cy="4297680"/>
          </a:xfrm>
          <a:prstGeom prst="roundRect">
            <a:avLst>
              <a:gd name="adj" fmla="val 2128"/>
            </a:avLst>
          </a:prstGeom>
          <a:solidFill>
            <a:srgbClr val="14263F"/>
          </a:solidFill>
          <a:ln w="6350">
            <a:solidFill>
              <a:srgbClr val="2A3F5A"/>
            </a:solidFill>
            <a:prstDash val="solid"/>
          </a:ln>
        </p:spPr>
      </p:sp>
      <p:sp>
        <p:nvSpPr>
          <p:cNvPr id="5" name="Text 3"/>
          <p:cNvSpPr/>
          <p:nvPr/>
        </p:nvSpPr>
        <p:spPr>
          <a:xfrm>
            <a:off x="960120" y="2148840"/>
            <a:ext cx="493776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WHAT'S IN THE MODEL</a:t>
            </a:r>
            <a:endParaRPr lang="en-US" sz="1100" dirty="0"/>
          </a:p>
        </p:txBody>
      </p:sp>
      <p:sp>
        <p:nvSpPr>
          <p:cNvPr id="6" name="Text 4"/>
          <p:cNvSpPr/>
          <p:nvPr/>
        </p:nvSpPr>
        <p:spPr>
          <a:xfrm>
            <a:off x="960120" y="2606040"/>
            <a:ext cx="4937760" cy="34747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Render.com hosting  — API + Postgres + static site</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Resend transactional email — verifications + confirmations</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MSG91 SMS — order confirmation only</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WhatsApp Business — order tracking only (utility)</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DLT registration (India regulatory, one-time)</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Domain purchase + annual renewal</a:t>
            </a:r>
            <a:endParaRPr lang="en-US" sz="1300" dirty="0"/>
          </a:p>
        </p:txBody>
      </p:sp>
      <p:sp>
        <p:nvSpPr>
          <p:cNvPr id="7" name="Shape 5"/>
          <p:cNvSpPr/>
          <p:nvPr/>
        </p:nvSpPr>
        <p:spPr>
          <a:xfrm>
            <a:off x="6309360" y="1965960"/>
            <a:ext cx="5394960" cy="4297680"/>
          </a:xfrm>
          <a:prstGeom prst="roundRect">
            <a:avLst>
              <a:gd name="adj" fmla="val 2128"/>
            </a:avLst>
          </a:prstGeom>
          <a:solidFill>
            <a:srgbClr val="14263F"/>
          </a:solidFill>
          <a:ln w="6350">
            <a:solidFill>
              <a:srgbClr val="2A3F5A"/>
            </a:solidFill>
            <a:prstDash val="solid"/>
          </a:ln>
        </p:spPr>
      </p:sp>
      <p:sp>
        <p:nvSpPr>
          <p:cNvPr id="8" name="Text 6"/>
          <p:cNvSpPr/>
          <p:nvPr/>
        </p:nvSpPr>
        <p:spPr>
          <a:xfrm>
            <a:off x="6537960" y="2148840"/>
            <a:ext cx="493776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WHAT'S NOT INCLUDED</a:t>
            </a:r>
            <a:endParaRPr lang="en-US" sz="1100" dirty="0"/>
          </a:p>
        </p:txBody>
      </p:sp>
      <p:sp>
        <p:nvSpPr>
          <p:cNvPr id="9" name="Text 7"/>
          <p:cNvSpPr/>
          <p:nvPr/>
        </p:nvSpPr>
        <p:spPr>
          <a:xfrm>
            <a:off x="6537960" y="2606040"/>
            <a:ext cx="4937760" cy="347472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Razorpay gateway fees  — 2 % + 18 % GST on online orders</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Courier COD collection fees — ~₹40–60 per delivery</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Product cost of goods, packaging, warehousing</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Marketing spend (ads, influencers, PR)</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Salaries or team costs</a:t>
            </a:r>
            <a:endParaRPr lang="en-US" sz="1300" dirty="0"/>
          </a:p>
          <a:p>
            <a:pPr marL="342900" indent="-342900">
              <a:spcAft>
                <a:spcPts val="1000"/>
              </a:spcAft>
              <a:buSzPct val="100000"/>
              <a:buChar char="•"/>
            </a:pPr>
            <a:r>
              <a:rPr lang="en-US" sz="1300" dirty="0">
                <a:solidFill>
                  <a:srgbClr val="F5EDD8"/>
                </a:solidFill>
                <a:latin typeface="Calibri" pitchFamily="34" charset="0"/>
                <a:ea typeface="Calibri" pitchFamily="34" charset="-122"/>
                <a:cs typeface="Calibri" pitchFamily="34" charset="-120"/>
              </a:rPr>
              <a:t>Optional developer retainer (₹8,000 / mo)</a:t>
            </a:r>
            <a:endParaRPr lang="en-US" sz="1300" dirty="0"/>
          </a:p>
        </p:txBody>
      </p:sp>
      <p:sp>
        <p:nvSpPr>
          <p:cNvPr id="10" name="Text 8"/>
          <p:cNvSpPr/>
          <p:nvPr/>
        </p:nvSpPr>
        <p:spPr>
          <a:xfrm>
            <a:off x="731520" y="6355080"/>
            <a:ext cx="10972800" cy="256032"/>
          </a:xfrm>
          <a:prstGeom prst="rect">
            <a:avLst/>
          </a:prstGeom>
          <a:noFill/>
          <a:ln/>
        </p:spPr>
        <p:txBody>
          <a:bodyPr wrap="square" lIns="0" tIns="0" rIns="0" bIns="0" rtlCol="0" anchor="ctr"/>
          <a:lstStyle/>
          <a:p>
            <a:pPr algn="ctr" indent="0" marL="0">
              <a:buNone/>
            </a:pPr>
            <a:r>
              <a:rPr lang="en-US" sz="1200" i="1" dirty="0">
                <a:solidFill>
                  <a:srgbClr val="7A8AA8"/>
                </a:solidFill>
                <a:latin typeface="Cambria" pitchFamily="34" charset="0"/>
                <a:ea typeface="Cambria" pitchFamily="34" charset="-122"/>
                <a:cs typeface="Cambria" pitchFamily="34" charset="-120"/>
              </a:rPr>
              <a:t>Order value assumed at ₹400 average across the range. Conversion held at 1 %.</a:t>
            </a:r>
            <a:endParaRPr lang="en-US" sz="1200" dirty="0"/>
          </a:p>
        </p:txBody>
      </p:sp>
      <p:sp>
        <p:nvSpPr>
          <p:cNvPr id="11" name="Text 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2" name="Text 1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04 / 16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4A8FA8">
              <a:alpha val="12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 Band 1  ·  Post-launch</a:t>
            </a:r>
            <a:endParaRPr lang="en-US" sz="1100" dirty="0"/>
          </a:p>
        </p:txBody>
      </p:sp>
      <p:sp>
        <p:nvSpPr>
          <p:cNvPr id="4" name="Text 2"/>
          <p:cNvSpPr/>
          <p:nvPr/>
        </p:nvSpPr>
        <p:spPr>
          <a:xfrm>
            <a:off x="731520" y="1371600"/>
            <a:ext cx="10972800" cy="1371600"/>
          </a:xfrm>
          <a:prstGeom prst="rect">
            <a:avLst/>
          </a:prstGeom>
          <a:noFill/>
          <a:ln/>
        </p:spPr>
        <p:txBody>
          <a:bodyPr wrap="square" lIns="0" tIns="0" rIns="0" bIns="0" rtlCol="0" anchor="ctr"/>
          <a:lstStyle/>
          <a:p>
            <a:pPr indent="0" marL="0">
              <a:buNone/>
            </a:pPr>
            <a:r>
              <a:rPr lang="en-US" sz="8000" b="1" dirty="0">
                <a:solidFill>
                  <a:srgbClr val="F5EDD8"/>
                </a:solidFill>
                <a:latin typeface="Cambria" pitchFamily="34" charset="0"/>
                <a:ea typeface="Cambria" pitchFamily="34" charset="-122"/>
                <a:cs typeface="Cambria" pitchFamily="34" charset="-120"/>
              </a:rPr>
              <a:t>10 – 50 CCU</a:t>
            </a:r>
            <a:endParaRPr lang="en-US" sz="8000" dirty="0"/>
          </a:p>
        </p:txBody>
      </p:sp>
      <p:sp>
        <p:nvSpPr>
          <p:cNvPr id="5" name="Text 3"/>
          <p:cNvSpPr/>
          <p:nvPr/>
        </p:nvSpPr>
        <p:spPr>
          <a:xfrm>
            <a:off x="731520" y="2834640"/>
            <a:ext cx="10972800" cy="548640"/>
          </a:xfrm>
          <a:prstGeom prst="rect">
            <a:avLst/>
          </a:prstGeom>
          <a:noFill/>
          <a:ln/>
        </p:spPr>
        <p:txBody>
          <a:bodyPr wrap="square" lIns="0" tIns="0" rIns="0" bIns="0" rtlCol="0" anchor="ctr"/>
          <a:lstStyle/>
          <a:p>
            <a:pPr indent="0" marL="0">
              <a:buNone/>
            </a:pPr>
            <a:r>
              <a:rPr lang="en-US" sz="2800" dirty="0">
                <a:solidFill>
                  <a:srgbClr val="CFC5AC"/>
                </a:solidFill>
                <a:latin typeface="Cambria" pitchFamily="34" charset="0"/>
                <a:ea typeface="Cambria" pitchFamily="34" charset="-122"/>
                <a:cs typeface="Cambria" pitchFamily="34" charset="-120"/>
              </a:rPr>
              <a:t>Word of mouth. </a:t>
            </a:r>
            <a:pPr indent="0" marL="0">
              <a:buNone/>
            </a:pPr>
            <a:r>
              <a:rPr lang="en-US" sz="2800" dirty="0">
                <a:solidFill>
                  <a:srgbClr val="CFC5AC"/>
                </a:solidFill>
                <a:latin typeface="Cambria" pitchFamily="34" charset="0"/>
                <a:ea typeface="Cambria" pitchFamily="34" charset="-122"/>
                <a:cs typeface="Cambria" pitchFamily="34" charset="-120"/>
              </a:rPr>
              <a:t>First paid ads. </a:t>
            </a:r>
            <a:pPr indent="0" marL="0">
              <a:buNone/>
            </a:pPr>
            <a:r>
              <a:rPr lang="en-US" sz="2800" i="1" dirty="0">
                <a:solidFill>
                  <a:srgbClr val="4A8FA8"/>
                </a:solidFill>
                <a:latin typeface="Cambria" pitchFamily="34" charset="0"/>
                <a:ea typeface="Cambria" pitchFamily="34" charset="-122"/>
                <a:cs typeface="Cambria" pitchFamily="34" charset="-120"/>
              </a:rPr>
              <a:t>First real customers.</a:t>
            </a:r>
            <a:endParaRPr lang="en-US" sz="2800" dirty="0"/>
          </a:p>
        </p:txBody>
      </p:sp>
      <p:sp>
        <p:nvSpPr>
          <p:cNvPr id="6" name="Shape 4"/>
          <p:cNvSpPr/>
          <p:nvPr/>
        </p:nvSpPr>
        <p:spPr>
          <a:xfrm>
            <a:off x="731520" y="3931920"/>
            <a:ext cx="3566160" cy="1920240"/>
          </a:xfrm>
          <a:prstGeom prst="roundRect">
            <a:avLst>
              <a:gd name="adj" fmla="val 4762"/>
            </a:avLst>
          </a:prstGeom>
          <a:solidFill>
            <a:srgbClr val="14263F"/>
          </a:solidFill>
          <a:ln w="6350">
            <a:solidFill>
              <a:srgbClr val="2A3F5A"/>
            </a:solidFill>
            <a:prstDash val="solid"/>
          </a:ln>
        </p:spPr>
      </p:sp>
      <p:sp>
        <p:nvSpPr>
          <p:cNvPr id="7" name="Text 5"/>
          <p:cNvSpPr/>
          <p:nvPr/>
        </p:nvSpPr>
        <p:spPr>
          <a:xfrm>
            <a:off x="100584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5EDD8"/>
                </a:solidFill>
                <a:latin typeface="Calibri" pitchFamily="34" charset="0"/>
                <a:ea typeface="Calibri" pitchFamily="34" charset="-122"/>
                <a:cs typeface="Calibri" pitchFamily="34" charset="-120"/>
              </a:rPr>
              <a:t>Monthly orders</a:t>
            </a:r>
            <a:endParaRPr lang="en-US" sz="1100" dirty="0"/>
          </a:p>
        </p:txBody>
      </p:sp>
      <p:sp>
        <p:nvSpPr>
          <p:cNvPr id="8" name="Text 6"/>
          <p:cNvSpPr/>
          <p:nvPr/>
        </p:nvSpPr>
        <p:spPr>
          <a:xfrm>
            <a:off x="100584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~2,000</a:t>
            </a:r>
            <a:endParaRPr lang="en-US" sz="4600" dirty="0"/>
          </a:p>
        </p:txBody>
      </p:sp>
      <p:sp>
        <p:nvSpPr>
          <p:cNvPr id="9" name="Shape 7"/>
          <p:cNvSpPr/>
          <p:nvPr/>
        </p:nvSpPr>
        <p:spPr>
          <a:xfrm>
            <a:off x="4526280" y="3931920"/>
            <a:ext cx="3566160" cy="1920240"/>
          </a:xfrm>
          <a:prstGeom prst="roundRect">
            <a:avLst>
              <a:gd name="adj" fmla="val 4762"/>
            </a:avLst>
          </a:prstGeom>
          <a:solidFill>
            <a:srgbClr val="14263F"/>
          </a:solidFill>
          <a:ln w="6350">
            <a:solidFill>
              <a:srgbClr val="2A3F5A"/>
            </a:solidFill>
            <a:prstDash val="solid"/>
          </a:ln>
        </p:spPr>
      </p:sp>
      <p:sp>
        <p:nvSpPr>
          <p:cNvPr id="10" name="Text 8"/>
          <p:cNvSpPr/>
          <p:nvPr/>
        </p:nvSpPr>
        <p:spPr>
          <a:xfrm>
            <a:off x="4800600" y="4114800"/>
            <a:ext cx="3200400" cy="320040"/>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Total / month</a:t>
            </a:r>
            <a:endParaRPr lang="en-US" sz="1100" dirty="0"/>
          </a:p>
        </p:txBody>
      </p:sp>
      <p:sp>
        <p:nvSpPr>
          <p:cNvPr id="11" name="Text 9"/>
          <p:cNvSpPr/>
          <p:nvPr/>
        </p:nvSpPr>
        <p:spPr>
          <a:xfrm>
            <a:off x="480060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₹3,500</a:t>
            </a:r>
            <a:endParaRPr lang="en-US" sz="4600" dirty="0"/>
          </a:p>
        </p:txBody>
      </p:sp>
      <p:sp>
        <p:nvSpPr>
          <p:cNvPr id="12" name="Shape 10"/>
          <p:cNvSpPr/>
          <p:nvPr/>
        </p:nvSpPr>
        <p:spPr>
          <a:xfrm>
            <a:off x="8321040" y="3931920"/>
            <a:ext cx="3566160" cy="1920240"/>
          </a:xfrm>
          <a:prstGeom prst="roundRect">
            <a:avLst>
              <a:gd name="adj" fmla="val 4762"/>
            </a:avLst>
          </a:prstGeom>
          <a:solidFill>
            <a:srgbClr val="14263F"/>
          </a:solidFill>
          <a:ln w="6350">
            <a:solidFill>
              <a:srgbClr val="2A3F5A"/>
            </a:solidFill>
            <a:prstDash val="solid"/>
          </a:ln>
        </p:spPr>
      </p:sp>
      <p:sp>
        <p:nvSpPr>
          <p:cNvPr id="13" name="Text 11"/>
          <p:cNvSpPr/>
          <p:nvPr/>
        </p:nvSpPr>
        <p:spPr>
          <a:xfrm>
            <a:off x="8595360" y="4114800"/>
            <a:ext cx="32004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2-year total</a:t>
            </a:r>
            <a:endParaRPr lang="en-US" sz="1100" dirty="0"/>
          </a:p>
        </p:txBody>
      </p:sp>
      <p:sp>
        <p:nvSpPr>
          <p:cNvPr id="14" name="Text 12"/>
          <p:cNvSpPr/>
          <p:nvPr/>
        </p:nvSpPr>
        <p:spPr>
          <a:xfrm>
            <a:off x="859536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₹85,000</a:t>
            </a:r>
            <a:endParaRPr lang="en-US" sz="46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6"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05 / 16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4A8FA8"/>
                </a:solidFill>
                <a:latin typeface="Calibri" pitchFamily="34" charset="0"/>
                <a:ea typeface="Calibri" pitchFamily="34" charset="-122"/>
                <a:cs typeface="Calibri" pitchFamily="34" charset="-120"/>
              </a:rPr>
              <a:t>— 10 – 50 CCU  ·  Breakdown</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What you pay </a:t>
            </a:r>
            <a:pPr indent="0" marL="0">
              <a:buNone/>
            </a:pPr>
            <a:r>
              <a:rPr lang="en-US" sz="4000" b="1" i="1" dirty="0">
                <a:solidFill>
                  <a:srgbClr val="4A8FA8"/>
                </a:solidFill>
                <a:latin typeface="Cambria" pitchFamily="34" charset="0"/>
                <a:ea typeface="Cambria" pitchFamily="34" charset="-122"/>
                <a:cs typeface="Cambria" pitchFamily="34" charset="-120"/>
              </a:rPr>
              <a:t>each month.</a:t>
            </a:r>
            <a:endParaRPr lang="en-US" sz="4000" dirty="0"/>
          </a:p>
        </p:txBody>
      </p:sp>
      <p:sp>
        <p:nvSpPr>
          <p:cNvPr id="4" name="Text 2"/>
          <p:cNvSpPr/>
          <p:nvPr/>
        </p:nvSpPr>
        <p:spPr>
          <a:xfrm>
            <a:off x="731520" y="1920240"/>
            <a:ext cx="109728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INFRASTRUCTURE (RENDER)</a:t>
            </a:r>
            <a:endParaRPr lang="en-US" sz="1100" dirty="0"/>
          </a:p>
        </p:txBody>
      </p:sp>
      <p:sp>
        <p:nvSpPr>
          <p:cNvPr id="5" name="Shape 3"/>
          <p:cNvSpPr/>
          <p:nvPr/>
        </p:nvSpPr>
        <p:spPr>
          <a:xfrm>
            <a:off x="731520" y="2286000"/>
            <a:ext cx="10698480" cy="384048"/>
          </a:xfrm>
          <a:prstGeom prst="rect">
            <a:avLst/>
          </a:prstGeom>
          <a:solidFill>
            <a:srgbClr val="1A2E48"/>
          </a:solidFill>
          <a:ln w="6350">
            <a:solidFill>
              <a:srgbClr val="2A3F5A"/>
            </a:solidFill>
            <a:prstDash val="solid"/>
          </a:ln>
        </p:spPr>
      </p:sp>
      <p:sp>
        <p:nvSpPr>
          <p:cNvPr id="6" name="Text 4"/>
          <p:cNvSpPr/>
          <p:nvPr/>
        </p:nvSpPr>
        <p:spPr>
          <a:xfrm>
            <a:off x="8229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Sub-band</a:t>
            </a:r>
            <a:endParaRPr lang="en-US" sz="1100" dirty="0"/>
          </a:p>
        </p:txBody>
      </p:sp>
      <p:sp>
        <p:nvSpPr>
          <p:cNvPr id="7" name="Text 5"/>
          <p:cNvSpPr/>
          <p:nvPr/>
        </p:nvSpPr>
        <p:spPr>
          <a:xfrm>
            <a:off x="26517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Tier</a:t>
            </a:r>
            <a:endParaRPr lang="en-US" sz="1100" dirty="0"/>
          </a:p>
        </p:txBody>
      </p:sp>
      <p:sp>
        <p:nvSpPr>
          <p:cNvPr id="8" name="Text 6"/>
          <p:cNvSpPr/>
          <p:nvPr/>
        </p:nvSpPr>
        <p:spPr>
          <a:xfrm>
            <a:off x="4480560" y="2286000"/>
            <a:ext cx="50749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Configuration</a:t>
            </a:r>
            <a:endParaRPr lang="en-US" sz="1100" dirty="0"/>
          </a:p>
        </p:txBody>
      </p:sp>
      <p:sp>
        <p:nvSpPr>
          <p:cNvPr id="9" name="Text 7"/>
          <p:cNvSpPr/>
          <p:nvPr/>
        </p:nvSpPr>
        <p:spPr>
          <a:xfrm>
            <a:off x="969264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10" name="Shape 8"/>
          <p:cNvSpPr/>
          <p:nvPr/>
        </p:nvSpPr>
        <p:spPr>
          <a:xfrm>
            <a:off x="731520" y="2670048"/>
            <a:ext cx="10698480" cy="365760"/>
          </a:xfrm>
          <a:prstGeom prst="rect">
            <a:avLst/>
          </a:prstGeom>
          <a:solidFill>
            <a:srgbClr val="14263F"/>
          </a:solidFill>
          <a:ln w="3810">
            <a:solidFill>
              <a:srgbClr val="2A3F5A"/>
            </a:solidFill>
            <a:prstDash val="solid"/>
          </a:ln>
        </p:spPr>
      </p:sp>
      <p:sp>
        <p:nvSpPr>
          <p:cNvPr id="11" name="Text 9"/>
          <p:cNvSpPr/>
          <p:nvPr/>
        </p:nvSpPr>
        <p:spPr>
          <a:xfrm>
            <a:off x="822960" y="2670048"/>
            <a:ext cx="16916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10 – 25 CCU</a:t>
            </a:r>
            <a:endParaRPr lang="en-US" sz="1200" dirty="0"/>
          </a:p>
        </p:txBody>
      </p:sp>
      <p:sp>
        <p:nvSpPr>
          <p:cNvPr id="12" name="Text 10"/>
          <p:cNvSpPr/>
          <p:nvPr/>
        </p:nvSpPr>
        <p:spPr>
          <a:xfrm>
            <a:off x="2651760" y="267004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a:t>
            </a:r>
            <a:endParaRPr lang="en-US" sz="1200" dirty="0"/>
          </a:p>
        </p:txBody>
      </p:sp>
      <p:sp>
        <p:nvSpPr>
          <p:cNvPr id="13" name="Text 11"/>
          <p:cNvSpPr/>
          <p:nvPr/>
        </p:nvSpPr>
        <p:spPr>
          <a:xfrm>
            <a:off x="4480560" y="2670048"/>
            <a:ext cx="50749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$7 API + $7 Postgres (always on)</a:t>
            </a:r>
            <a:endParaRPr lang="en-US" sz="1200" dirty="0"/>
          </a:p>
        </p:txBody>
      </p:sp>
      <p:sp>
        <p:nvSpPr>
          <p:cNvPr id="14" name="Text 12"/>
          <p:cNvSpPr/>
          <p:nvPr/>
        </p:nvSpPr>
        <p:spPr>
          <a:xfrm>
            <a:off x="9692640" y="267004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₹1,180</a:t>
            </a:r>
            <a:endParaRPr lang="en-US" sz="1200" dirty="0"/>
          </a:p>
        </p:txBody>
      </p:sp>
      <p:sp>
        <p:nvSpPr>
          <p:cNvPr id="15" name="Shape 13"/>
          <p:cNvSpPr/>
          <p:nvPr/>
        </p:nvSpPr>
        <p:spPr>
          <a:xfrm>
            <a:off x="731520" y="303580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035808"/>
            <a:ext cx="16916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25 – 50 CCU</a:t>
            </a:r>
            <a:endParaRPr lang="en-US" sz="1200" dirty="0"/>
          </a:p>
        </p:txBody>
      </p:sp>
      <p:sp>
        <p:nvSpPr>
          <p:cNvPr id="17" name="Text 15"/>
          <p:cNvSpPr/>
          <p:nvPr/>
        </p:nvSpPr>
        <p:spPr>
          <a:xfrm>
            <a:off x="2651760" y="303580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8" name="Text 16"/>
          <p:cNvSpPr/>
          <p:nvPr/>
        </p:nvSpPr>
        <p:spPr>
          <a:xfrm>
            <a:off x="4480560" y="3035808"/>
            <a:ext cx="50749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 API (2 GB, 1 CPU) + $20 Postgres</a:t>
            </a:r>
            <a:endParaRPr lang="en-US" sz="1200" dirty="0"/>
          </a:p>
        </p:txBody>
      </p:sp>
      <p:sp>
        <p:nvSpPr>
          <p:cNvPr id="19" name="Text 17"/>
          <p:cNvSpPr/>
          <p:nvPr/>
        </p:nvSpPr>
        <p:spPr>
          <a:xfrm>
            <a:off x="9692640" y="303580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₹3,800</a:t>
            </a:r>
            <a:endParaRPr lang="en-US" sz="1200" dirty="0"/>
          </a:p>
        </p:txBody>
      </p:sp>
      <p:sp>
        <p:nvSpPr>
          <p:cNvPr id="20" name="Text 18"/>
          <p:cNvSpPr/>
          <p:nvPr/>
        </p:nvSpPr>
        <p:spPr>
          <a:xfrm>
            <a:off x="731520" y="3794760"/>
            <a:ext cx="109728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MESSAGING  ·  AT ~2,000 ORDERS / MONTH</a:t>
            </a:r>
            <a:endParaRPr lang="en-US" sz="1100" dirty="0"/>
          </a:p>
        </p:txBody>
      </p:sp>
      <p:sp>
        <p:nvSpPr>
          <p:cNvPr id="21" name="Shape 19"/>
          <p:cNvSpPr/>
          <p:nvPr/>
        </p:nvSpPr>
        <p:spPr>
          <a:xfrm>
            <a:off x="731520" y="4160520"/>
            <a:ext cx="10698480" cy="384048"/>
          </a:xfrm>
          <a:prstGeom prst="rect">
            <a:avLst/>
          </a:prstGeom>
          <a:solidFill>
            <a:srgbClr val="1A2E48"/>
          </a:solidFill>
          <a:ln w="6350">
            <a:solidFill>
              <a:srgbClr val="2A3F5A"/>
            </a:solidFill>
            <a:prstDash val="solid"/>
          </a:ln>
        </p:spPr>
      </p:sp>
      <p:sp>
        <p:nvSpPr>
          <p:cNvPr id="22" name="Text 20"/>
          <p:cNvSpPr/>
          <p:nvPr/>
        </p:nvSpPr>
        <p:spPr>
          <a:xfrm>
            <a:off x="822960" y="416052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Service</a:t>
            </a:r>
            <a:endParaRPr lang="en-US" sz="1100" dirty="0"/>
          </a:p>
        </p:txBody>
      </p:sp>
      <p:sp>
        <p:nvSpPr>
          <p:cNvPr id="23" name="Text 21"/>
          <p:cNvSpPr/>
          <p:nvPr/>
        </p:nvSpPr>
        <p:spPr>
          <a:xfrm>
            <a:off x="3108960" y="41605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Volume</a:t>
            </a:r>
            <a:endParaRPr lang="en-US" sz="1100" dirty="0"/>
          </a:p>
        </p:txBody>
      </p:sp>
      <p:sp>
        <p:nvSpPr>
          <p:cNvPr id="24" name="Text 22"/>
          <p:cNvSpPr/>
          <p:nvPr/>
        </p:nvSpPr>
        <p:spPr>
          <a:xfrm>
            <a:off x="4937760" y="416052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Notes</a:t>
            </a:r>
            <a:endParaRPr lang="en-US" sz="1100" dirty="0"/>
          </a:p>
        </p:txBody>
      </p:sp>
      <p:sp>
        <p:nvSpPr>
          <p:cNvPr id="25" name="Text 23"/>
          <p:cNvSpPr/>
          <p:nvPr/>
        </p:nvSpPr>
        <p:spPr>
          <a:xfrm>
            <a:off x="9692640" y="41605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26" name="Shape 24"/>
          <p:cNvSpPr/>
          <p:nvPr/>
        </p:nvSpPr>
        <p:spPr>
          <a:xfrm>
            <a:off x="731520" y="4544568"/>
            <a:ext cx="10698480" cy="365760"/>
          </a:xfrm>
          <a:prstGeom prst="rect">
            <a:avLst/>
          </a:prstGeom>
          <a:solidFill>
            <a:srgbClr val="14263F"/>
          </a:solidFill>
          <a:ln w="3810">
            <a:solidFill>
              <a:srgbClr val="2A3F5A"/>
            </a:solidFill>
            <a:prstDash val="solid"/>
          </a:ln>
        </p:spPr>
      </p:sp>
      <p:sp>
        <p:nvSpPr>
          <p:cNvPr id="27" name="Text 25"/>
          <p:cNvSpPr/>
          <p:nvPr/>
        </p:nvSpPr>
        <p:spPr>
          <a:xfrm>
            <a:off x="822960" y="45445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(Resend)</a:t>
            </a:r>
            <a:endParaRPr lang="en-US" sz="1200" dirty="0"/>
          </a:p>
        </p:txBody>
      </p:sp>
      <p:sp>
        <p:nvSpPr>
          <p:cNvPr id="28" name="Text 26"/>
          <p:cNvSpPr/>
          <p:nvPr/>
        </p:nvSpPr>
        <p:spPr>
          <a:xfrm>
            <a:off x="3108960" y="45445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~2,500 /mo</a:t>
            </a:r>
            <a:endParaRPr lang="en-US" sz="1200" dirty="0"/>
          </a:p>
        </p:txBody>
      </p:sp>
      <p:sp>
        <p:nvSpPr>
          <p:cNvPr id="29" name="Text 27"/>
          <p:cNvSpPr/>
          <p:nvPr/>
        </p:nvSpPr>
        <p:spPr>
          <a:xfrm>
            <a:off x="4937760" y="45445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Under 3,000 /mo free tier</a:t>
            </a:r>
            <a:endParaRPr lang="en-US" sz="1200" dirty="0"/>
          </a:p>
        </p:txBody>
      </p:sp>
      <p:sp>
        <p:nvSpPr>
          <p:cNvPr id="30" name="Text 28"/>
          <p:cNvSpPr/>
          <p:nvPr/>
        </p:nvSpPr>
        <p:spPr>
          <a:xfrm>
            <a:off x="9692640" y="45445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Free</a:t>
            </a:r>
            <a:endParaRPr lang="en-US" sz="1200" dirty="0"/>
          </a:p>
        </p:txBody>
      </p:sp>
      <p:sp>
        <p:nvSpPr>
          <p:cNvPr id="31" name="Shape 29"/>
          <p:cNvSpPr/>
          <p:nvPr/>
        </p:nvSpPr>
        <p:spPr>
          <a:xfrm>
            <a:off x="731520" y="4910328"/>
            <a:ext cx="10698480" cy="365760"/>
          </a:xfrm>
          <a:prstGeom prst="rect">
            <a:avLst/>
          </a:prstGeom>
          <a:solidFill>
            <a:srgbClr val="0B1520"/>
          </a:solidFill>
          <a:ln w="3810">
            <a:solidFill>
              <a:srgbClr val="2A3F5A"/>
            </a:solidFill>
            <a:prstDash val="solid"/>
          </a:ln>
        </p:spPr>
      </p:sp>
      <p:sp>
        <p:nvSpPr>
          <p:cNvPr id="32" name="Text 30"/>
          <p:cNvSpPr/>
          <p:nvPr/>
        </p:nvSpPr>
        <p:spPr>
          <a:xfrm>
            <a:off x="822960" y="491032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SMS (MSG91)</a:t>
            </a:r>
            <a:endParaRPr lang="en-US" sz="1200" dirty="0"/>
          </a:p>
        </p:txBody>
      </p:sp>
      <p:sp>
        <p:nvSpPr>
          <p:cNvPr id="33" name="Text 31"/>
          <p:cNvSpPr/>
          <p:nvPr/>
        </p:nvSpPr>
        <p:spPr>
          <a:xfrm>
            <a:off x="3108960" y="491032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~2,000 /mo</a:t>
            </a:r>
            <a:endParaRPr lang="en-US" sz="1200" dirty="0"/>
          </a:p>
        </p:txBody>
      </p:sp>
      <p:sp>
        <p:nvSpPr>
          <p:cNvPr id="34" name="Text 32"/>
          <p:cNvSpPr/>
          <p:nvPr/>
        </p:nvSpPr>
        <p:spPr>
          <a:xfrm>
            <a:off x="4937760" y="491032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Order confirmation only, ~₹0.20 each</a:t>
            </a:r>
            <a:endParaRPr lang="en-US" sz="1200" dirty="0"/>
          </a:p>
        </p:txBody>
      </p:sp>
      <p:sp>
        <p:nvSpPr>
          <p:cNvPr id="35" name="Text 33"/>
          <p:cNvSpPr/>
          <p:nvPr/>
        </p:nvSpPr>
        <p:spPr>
          <a:xfrm>
            <a:off x="9692640" y="491032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₹400</a:t>
            </a:r>
            <a:endParaRPr lang="en-US" sz="1200" dirty="0"/>
          </a:p>
        </p:txBody>
      </p:sp>
      <p:sp>
        <p:nvSpPr>
          <p:cNvPr id="36" name="Shape 34"/>
          <p:cNvSpPr/>
          <p:nvPr/>
        </p:nvSpPr>
        <p:spPr>
          <a:xfrm>
            <a:off x="731520" y="5276088"/>
            <a:ext cx="10698480" cy="365760"/>
          </a:xfrm>
          <a:prstGeom prst="rect">
            <a:avLst/>
          </a:prstGeom>
          <a:solidFill>
            <a:srgbClr val="14263F"/>
          </a:solidFill>
          <a:ln w="3810">
            <a:solidFill>
              <a:srgbClr val="2A3F5A"/>
            </a:solidFill>
            <a:prstDash val="solid"/>
          </a:ln>
        </p:spPr>
      </p:sp>
      <p:sp>
        <p:nvSpPr>
          <p:cNvPr id="37" name="Text 35"/>
          <p:cNvSpPr/>
          <p:nvPr/>
        </p:nvSpPr>
        <p:spPr>
          <a:xfrm>
            <a:off x="822960" y="527608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WhatsApp tracking</a:t>
            </a:r>
            <a:endParaRPr lang="en-US" sz="1200" dirty="0"/>
          </a:p>
        </p:txBody>
      </p:sp>
      <p:sp>
        <p:nvSpPr>
          <p:cNvPr id="38" name="Text 36"/>
          <p:cNvSpPr/>
          <p:nvPr/>
        </p:nvSpPr>
        <p:spPr>
          <a:xfrm>
            <a:off x="3108960" y="527608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~2,000 /mo</a:t>
            </a:r>
            <a:endParaRPr lang="en-US" sz="1200" dirty="0"/>
          </a:p>
        </p:txBody>
      </p:sp>
      <p:sp>
        <p:nvSpPr>
          <p:cNvPr id="39" name="Text 37"/>
          <p:cNvSpPr/>
          <p:nvPr/>
        </p:nvSpPr>
        <p:spPr>
          <a:xfrm>
            <a:off x="4937760" y="527608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Utility conversation, ~₹0.30 each</a:t>
            </a:r>
            <a:endParaRPr lang="en-US" sz="1200" dirty="0"/>
          </a:p>
        </p:txBody>
      </p:sp>
      <p:sp>
        <p:nvSpPr>
          <p:cNvPr id="40" name="Text 38"/>
          <p:cNvSpPr/>
          <p:nvPr/>
        </p:nvSpPr>
        <p:spPr>
          <a:xfrm>
            <a:off x="9692640" y="527608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₹600</a:t>
            </a:r>
            <a:endParaRPr lang="en-US" sz="1200" dirty="0"/>
          </a:p>
        </p:txBody>
      </p:sp>
      <p:sp>
        <p:nvSpPr>
          <p:cNvPr id="41" name="Shape 39"/>
          <p:cNvSpPr/>
          <p:nvPr/>
        </p:nvSpPr>
        <p:spPr>
          <a:xfrm>
            <a:off x="731520" y="5806440"/>
            <a:ext cx="10698480" cy="640080"/>
          </a:xfrm>
          <a:prstGeom prst="roundRect">
            <a:avLst>
              <a:gd name="adj" fmla="val 14286"/>
            </a:avLst>
          </a:prstGeom>
          <a:solidFill>
            <a:srgbClr val="1A2E48"/>
          </a:solidFill>
          <a:ln w="12700">
            <a:solidFill>
              <a:srgbClr val="4A8FA8"/>
            </a:solidFill>
            <a:prstDash val="solid"/>
          </a:ln>
        </p:spPr>
      </p:sp>
      <p:sp>
        <p:nvSpPr>
          <p:cNvPr id="42" name="Text 40"/>
          <p:cNvSpPr/>
          <p:nvPr/>
        </p:nvSpPr>
        <p:spPr>
          <a:xfrm>
            <a:off x="960120" y="5852160"/>
            <a:ext cx="10424160" cy="548640"/>
          </a:xfrm>
          <a:prstGeom prst="rect">
            <a:avLst/>
          </a:prstGeom>
          <a:noFill/>
          <a:ln/>
        </p:spPr>
        <p:txBody>
          <a:bodyPr wrap="square" lIns="0" tIns="0" rIns="0" bIns="0" rtlCol="0" anchor="ctr"/>
          <a:lstStyle/>
          <a:p>
            <a:pPr indent="0" marL="0">
              <a:buNone/>
            </a:pPr>
            <a:r>
              <a:rPr lang="en-US" sz="1500" dirty="0">
                <a:solidFill>
                  <a:srgbClr val="CFC5AC"/>
                </a:solidFill>
                <a:latin typeface="Calibri" pitchFamily="34" charset="0"/>
                <a:ea typeface="Calibri" pitchFamily="34" charset="-122"/>
                <a:cs typeface="Calibri" pitchFamily="34" charset="-120"/>
              </a:rPr>
              <a:t>Blended monthly total (Starter Y1, Standard Y2 assumed): </a:t>
            </a:r>
            <a:pPr indent="0" marL="0">
              <a:buNone/>
            </a:pPr>
            <a:r>
              <a:rPr lang="en-US" sz="1800" b="1" dirty="0">
                <a:solidFill>
                  <a:srgbClr val="4A8FA8"/>
                </a:solidFill>
                <a:latin typeface="Cambria" pitchFamily="34" charset="0"/>
                <a:ea typeface="Cambria" pitchFamily="34" charset="-122"/>
                <a:cs typeface="Cambria" pitchFamily="34" charset="-120"/>
              </a:rPr>
              <a:t>~₹3,500 / month</a:t>
            </a:r>
            <a:endParaRPr lang="en-US" sz="1500" dirty="0"/>
          </a:p>
        </p:txBody>
      </p:sp>
      <p:sp>
        <p:nvSpPr>
          <p:cNvPr id="43" name="Text 41"/>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4" name="Text 42"/>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06 / 16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F0994A">
              <a:alpha val="12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Band 2  ·  Established</a:t>
            </a:r>
            <a:endParaRPr lang="en-US" sz="1100" dirty="0"/>
          </a:p>
        </p:txBody>
      </p:sp>
      <p:sp>
        <p:nvSpPr>
          <p:cNvPr id="4" name="Text 2"/>
          <p:cNvSpPr/>
          <p:nvPr/>
        </p:nvSpPr>
        <p:spPr>
          <a:xfrm>
            <a:off x="731520" y="1371600"/>
            <a:ext cx="10972800" cy="1371600"/>
          </a:xfrm>
          <a:prstGeom prst="rect">
            <a:avLst/>
          </a:prstGeom>
          <a:noFill/>
          <a:ln/>
        </p:spPr>
        <p:txBody>
          <a:bodyPr wrap="square" lIns="0" tIns="0" rIns="0" bIns="0" rtlCol="0" anchor="ctr"/>
          <a:lstStyle/>
          <a:p>
            <a:pPr indent="0" marL="0">
              <a:buNone/>
            </a:pPr>
            <a:r>
              <a:rPr lang="en-US" sz="8000" b="1" dirty="0">
                <a:solidFill>
                  <a:srgbClr val="F5EDD8"/>
                </a:solidFill>
                <a:latin typeface="Cambria" pitchFamily="34" charset="0"/>
                <a:ea typeface="Cambria" pitchFamily="34" charset="-122"/>
                <a:cs typeface="Cambria" pitchFamily="34" charset="-120"/>
              </a:rPr>
              <a:t>50 – 100 CCU</a:t>
            </a:r>
            <a:endParaRPr lang="en-US" sz="8000" dirty="0"/>
          </a:p>
        </p:txBody>
      </p:sp>
      <p:sp>
        <p:nvSpPr>
          <p:cNvPr id="5" name="Text 3"/>
          <p:cNvSpPr/>
          <p:nvPr/>
        </p:nvSpPr>
        <p:spPr>
          <a:xfrm>
            <a:off x="731520" y="2834640"/>
            <a:ext cx="10972800" cy="548640"/>
          </a:xfrm>
          <a:prstGeom prst="rect">
            <a:avLst/>
          </a:prstGeom>
          <a:noFill/>
          <a:ln/>
        </p:spPr>
        <p:txBody>
          <a:bodyPr wrap="square" lIns="0" tIns="0" rIns="0" bIns="0" rtlCol="0" anchor="ctr"/>
          <a:lstStyle/>
          <a:p>
            <a:pPr indent="0" marL="0">
              <a:buNone/>
            </a:pPr>
            <a:r>
              <a:rPr lang="en-US" sz="2800" dirty="0">
                <a:solidFill>
                  <a:srgbClr val="CFC5AC"/>
                </a:solidFill>
                <a:latin typeface="Cambria" pitchFamily="34" charset="0"/>
                <a:ea typeface="Cambria" pitchFamily="34" charset="-122"/>
                <a:cs typeface="Cambria" pitchFamily="34" charset="-120"/>
              </a:rPr>
              <a:t>Repeat customers. </a:t>
            </a:r>
            <a:pPr indent="0" marL="0">
              <a:buNone/>
            </a:pPr>
            <a:r>
              <a:rPr lang="en-US" sz="2800" dirty="0">
                <a:solidFill>
                  <a:srgbClr val="CFC5AC"/>
                </a:solidFill>
                <a:latin typeface="Cambria" pitchFamily="34" charset="0"/>
                <a:ea typeface="Cambria" pitchFamily="34" charset="-122"/>
                <a:cs typeface="Cambria" pitchFamily="34" charset="-120"/>
              </a:rPr>
              <a:t>Instagram works. </a:t>
            </a:r>
            <a:pPr indent="0" marL="0">
              <a:buNone/>
            </a:pPr>
            <a:r>
              <a:rPr lang="en-US" sz="2800" i="1" dirty="0">
                <a:solidFill>
                  <a:srgbClr val="F0994A"/>
                </a:solidFill>
                <a:latin typeface="Cambria" pitchFamily="34" charset="0"/>
                <a:ea typeface="Cambria" pitchFamily="34" charset="-122"/>
                <a:cs typeface="Cambria" pitchFamily="34" charset="-120"/>
              </a:rPr>
              <a:t>You've made it.</a:t>
            </a:r>
            <a:endParaRPr lang="en-US" sz="2800" dirty="0"/>
          </a:p>
        </p:txBody>
      </p:sp>
      <p:sp>
        <p:nvSpPr>
          <p:cNvPr id="6" name="Shape 4"/>
          <p:cNvSpPr/>
          <p:nvPr/>
        </p:nvSpPr>
        <p:spPr>
          <a:xfrm>
            <a:off x="731520" y="3931920"/>
            <a:ext cx="3566160" cy="1920240"/>
          </a:xfrm>
          <a:prstGeom prst="roundRect">
            <a:avLst>
              <a:gd name="adj" fmla="val 4762"/>
            </a:avLst>
          </a:prstGeom>
          <a:solidFill>
            <a:srgbClr val="14263F"/>
          </a:solidFill>
          <a:ln w="6350">
            <a:solidFill>
              <a:srgbClr val="2A3F5A"/>
            </a:solidFill>
            <a:prstDash val="solid"/>
          </a:ln>
        </p:spPr>
      </p:sp>
      <p:sp>
        <p:nvSpPr>
          <p:cNvPr id="7" name="Text 5"/>
          <p:cNvSpPr/>
          <p:nvPr/>
        </p:nvSpPr>
        <p:spPr>
          <a:xfrm>
            <a:off x="100584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5EDD8"/>
                </a:solidFill>
                <a:latin typeface="Calibri" pitchFamily="34" charset="0"/>
                <a:ea typeface="Calibri" pitchFamily="34" charset="-122"/>
                <a:cs typeface="Calibri" pitchFamily="34" charset="-120"/>
              </a:rPr>
              <a:t>Monthly orders</a:t>
            </a:r>
            <a:endParaRPr lang="en-US" sz="1100" dirty="0"/>
          </a:p>
        </p:txBody>
      </p:sp>
      <p:sp>
        <p:nvSpPr>
          <p:cNvPr id="8" name="Text 6"/>
          <p:cNvSpPr/>
          <p:nvPr/>
        </p:nvSpPr>
        <p:spPr>
          <a:xfrm>
            <a:off x="100584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~4,000</a:t>
            </a:r>
            <a:endParaRPr lang="en-US" sz="4600" dirty="0"/>
          </a:p>
        </p:txBody>
      </p:sp>
      <p:sp>
        <p:nvSpPr>
          <p:cNvPr id="9" name="Shape 7"/>
          <p:cNvSpPr/>
          <p:nvPr/>
        </p:nvSpPr>
        <p:spPr>
          <a:xfrm>
            <a:off x="4526280" y="3931920"/>
            <a:ext cx="3566160" cy="1920240"/>
          </a:xfrm>
          <a:prstGeom prst="roundRect">
            <a:avLst>
              <a:gd name="adj" fmla="val 4762"/>
            </a:avLst>
          </a:prstGeom>
          <a:solidFill>
            <a:srgbClr val="14263F"/>
          </a:solidFill>
          <a:ln w="6350">
            <a:solidFill>
              <a:srgbClr val="2A3F5A"/>
            </a:solidFill>
            <a:prstDash val="solid"/>
          </a:ln>
        </p:spPr>
      </p:sp>
      <p:sp>
        <p:nvSpPr>
          <p:cNvPr id="10" name="Text 8"/>
          <p:cNvSpPr/>
          <p:nvPr/>
        </p:nvSpPr>
        <p:spPr>
          <a:xfrm>
            <a:off x="480060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Total / month</a:t>
            </a:r>
            <a:endParaRPr lang="en-US" sz="1100" dirty="0"/>
          </a:p>
        </p:txBody>
      </p:sp>
      <p:sp>
        <p:nvSpPr>
          <p:cNvPr id="11" name="Text 9"/>
          <p:cNvSpPr/>
          <p:nvPr/>
        </p:nvSpPr>
        <p:spPr>
          <a:xfrm>
            <a:off x="480060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₹7,500</a:t>
            </a:r>
            <a:endParaRPr lang="en-US" sz="4600" dirty="0"/>
          </a:p>
        </p:txBody>
      </p:sp>
      <p:sp>
        <p:nvSpPr>
          <p:cNvPr id="12" name="Shape 10"/>
          <p:cNvSpPr/>
          <p:nvPr/>
        </p:nvSpPr>
        <p:spPr>
          <a:xfrm>
            <a:off x="8321040" y="3931920"/>
            <a:ext cx="3566160" cy="1920240"/>
          </a:xfrm>
          <a:prstGeom prst="roundRect">
            <a:avLst>
              <a:gd name="adj" fmla="val 4762"/>
            </a:avLst>
          </a:prstGeom>
          <a:solidFill>
            <a:srgbClr val="14263F"/>
          </a:solidFill>
          <a:ln w="6350">
            <a:solidFill>
              <a:srgbClr val="2A3F5A"/>
            </a:solidFill>
            <a:prstDash val="solid"/>
          </a:ln>
        </p:spPr>
      </p:sp>
      <p:sp>
        <p:nvSpPr>
          <p:cNvPr id="13" name="Text 11"/>
          <p:cNvSpPr/>
          <p:nvPr/>
        </p:nvSpPr>
        <p:spPr>
          <a:xfrm>
            <a:off x="8595360" y="4114800"/>
            <a:ext cx="32004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2-year total</a:t>
            </a:r>
            <a:endParaRPr lang="en-US" sz="1100" dirty="0"/>
          </a:p>
        </p:txBody>
      </p:sp>
      <p:sp>
        <p:nvSpPr>
          <p:cNvPr id="14" name="Text 12"/>
          <p:cNvSpPr/>
          <p:nvPr/>
        </p:nvSpPr>
        <p:spPr>
          <a:xfrm>
            <a:off x="859536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₹1,80,000</a:t>
            </a:r>
            <a:endParaRPr lang="en-US" sz="46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6"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07 / 16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50 – 100 CCU  ·  Breakdown</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What you pay </a:t>
            </a:r>
            <a:pPr indent="0" marL="0">
              <a:buNone/>
            </a:pPr>
            <a:r>
              <a:rPr lang="en-US" sz="4000" b="1" i="1" dirty="0">
                <a:solidFill>
                  <a:srgbClr val="F0994A"/>
                </a:solidFill>
                <a:latin typeface="Cambria" pitchFamily="34" charset="0"/>
                <a:ea typeface="Cambria" pitchFamily="34" charset="-122"/>
                <a:cs typeface="Cambria" pitchFamily="34" charset="-120"/>
              </a:rPr>
              <a:t>each month.</a:t>
            </a:r>
            <a:endParaRPr lang="en-US" sz="4000" dirty="0"/>
          </a:p>
        </p:txBody>
      </p:sp>
      <p:sp>
        <p:nvSpPr>
          <p:cNvPr id="4" name="Text 2"/>
          <p:cNvSpPr/>
          <p:nvPr/>
        </p:nvSpPr>
        <p:spPr>
          <a:xfrm>
            <a:off x="731520" y="1920240"/>
            <a:ext cx="109728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INFRASTRUCTURE (RENDER)</a:t>
            </a:r>
            <a:endParaRPr lang="en-US" sz="1100" dirty="0"/>
          </a:p>
        </p:txBody>
      </p:sp>
      <p:sp>
        <p:nvSpPr>
          <p:cNvPr id="5" name="Shape 3"/>
          <p:cNvSpPr/>
          <p:nvPr/>
        </p:nvSpPr>
        <p:spPr>
          <a:xfrm>
            <a:off x="731520" y="2286000"/>
            <a:ext cx="10698480" cy="384048"/>
          </a:xfrm>
          <a:prstGeom prst="rect">
            <a:avLst/>
          </a:prstGeom>
          <a:solidFill>
            <a:srgbClr val="1A2E48"/>
          </a:solidFill>
          <a:ln w="6350">
            <a:solidFill>
              <a:srgbClr val="2A3F5A"/>
            </a:solidFill>
            <a:prstDash val="solid"/>
          </a:ln>
        </p:spPr>
      </p:sp>
      <p:sp>
        <p:nvSpPr>
          <p:cNvPr id="6" name="Text 4"/>
          <p:cNvSpPr/>
          <p:nvPr/>
        </p:nvSpPr>
        <p:spPr>
          <a:xfrm>
            <a:off x="822960" y="228600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Component</a:t>
            </a:r>
            <a:endParaRPr lang="en-US" sz="1100" dirty="0"/>
          </a:p>
        </p:txBody>
      </p:sp>
      <p:sp>
        <p:nvSpPr>
          <p:cNvPr id="7" name="Text 5"/>
          <p:cNvSpPr/>
          <p:nvPr/>
        </p:nvSpPr>
        <p:spPr>
          <a:xfrm>
            <a:off x="31089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Tier</a:t>
            </a:r>
            <a:endParaRPr lang="en-US" sz="1100" dirty="0"/>
          </a:p>
        </p:txBody>
      </p:sp>
      <p:sp>
        <p:nvSpPr>
          <p:cNvPr id="8" name="Text 6"/>
          <p:cNvSpPr/>
          <p:nvPr/>
        </p:nvSpPr>
        <p:spPr>
          <a:xfrm>
            <a:off x="4937760" y="228600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Configuration</a:t>
            </a:r>
            <a:endParaRPr lang="en-US" sz="1100" dirty="0"/>
          </a:p>
        </p:txBody>
      </p:sp>
      <p:sp>
        <p:nvSpPr>
          <p:cNvPr id="9" name="Text 7"/>
          <p:cNvSpPr/>
          <p:nvPr/>
        </p:nvSpPr>
        <p:spPr>
          <a:xfrm>
            <a:off x="969264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10" name="Shape 8"/>
          <p:cNvSpPr/>
          <p:nvPr/>
        </p:nvSpPr>
        <p:spPr>
          <a:xfrm>
            <a:off x="731520" y="2670048"/>
            <a:ext cx="10698480" cy="365760"/>
          </a:xfrm>
          <a:prstGeom prst="rect">
            <a:avLst/>
          </a:prstGeom>
          <a:solidFill>
            <a:srgbClr val="14263F"/>
          </a:solidFill>
          <a:ln w="3810">
            <a:solidFill>
              <a:srgbClr val="2A3F5A"/>
            </a:solidFill>
            <a:prstDash val="solid"/>
          </a:ln>
        </p:spPr>
      </p:sp>
      <p:sp>
        <p:nvSpPr>
          <p:cNvPr id="11" name="Text 9"/>
          <p:cNvSpPr/>
          <p:nvPr/>
        </p:nvSpPr>
        <p:spPr>
          <a:xfrm>
            <a:off x="822960" y="267004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Backend API</a:t>
            </a:r>
            <a:endParaRPr lang="en-US" sz="1200" dirty="0"/>
          </a:p>
        </p:txBody>
      </p:sp>
      <p:sp>
        <p:nvSpPr>
          <p:cNvPr id="12" name="Text 10"/>
          <p:cNvSpPr/>
          <p:nvPr/>
        </p:nvSpPr>
        <p:spPr>
          <a:xfrm>
            <a:off x="3108960" y="267004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3" name="Text 11"/>
          <p:cNvSpPr/>
          <p:nvPr/>
        </p:nvSpPr>
        <p:spPr>
          <a:xfrm>
            <a:off x="4937760" y="267004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 — 2 GB RAM, 1 CPU, always on</a:t>
            </a:r>
            <a:endParaRPr lang="en-US" sz="1200" dirty="0"/>
          </a:p>
        </p:txBody>
      </p:sp>
      <p:sp>
        <p:nvSpPr>
          <p:cNvPr id="14" name="Text 12"/>
          <p:cNvSpPr/>
          <p:nvPr/>
        </p:nvSpPr>
        <p:spPr>
          <a:xfrm>
            <a:off x="9692640" y="267004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₹2,100</a:t>
            </a:r>
            <a:endParaRPr lang="en-US" sz="1200" dirty="0"/>
          </a:p>
        </p:txBody>
      </p:sp>
      <p:sp>
        <p:nvSpPr>
          <p:cNvPr id="15" name="Shape 13"/>
          <p:cNvSpPr/>
          <p:nvPr/>
        </p:nvSpPr>
        <p:spPr>
          <a:xfrm>
            <a:off x="731520" y="303580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03580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Postgres DB</a:t>
            </a:r>
            <a:endParaRPr lang="en-US" sz="1200" dirty="0"/>
          </a:p>
        </p:txBody>
      </p:sp>
      <p:sp>
        <p:nvSpPr>
          <p:cNvPr id="17" name="Text 15"/>
          <p:cNvSpPr/>
          <p:nvPr/>
        </p:nvSpPr>
        <p:spPr>
          <a:xfrm>
            <a:off x="3108960" y="303580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8" name="Text 16"/>
          <p:cNvSpPr/>
          <p:nvPr/>
        </p:nvSpPr>
        <p:spPr>
          <a:xfrm>
            <a:off x="4937760" y="303580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 — 1 GB RAM, 10 GB storage</a:t>
            </a:r>
            <a:endParaRPr lang="en-US" sz="1200" dirty="0"/>
          </a:p>
        </p:txBody>
      </p:sp>
      <p:sp>
        <p:nvSpPr>
          <p:cNvPr id="19" name="Text 17"/>
          <p:cNvSpPr/>
          <p:nvPr/>
        </p:nvSpPr>
        <p:spPr>
          <a:xfrm>
            <a:off x="9692640" y="303580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20" name="Shape 18"/>
          <p:cNvSpPr/>
          <p:nvPr/>
        </p:nvSpPr>
        <p:spPr>
          <a:xfrm>
            <a:off x="731520" y="3401568"/>
            <a:ext cx="10698480" cy="365760"/>
          </a:xfrm>
          <a:prstGeom prst="rect">
            <a:avLst/>
          </a:prstGeom>
          <a:solidFill>
            <a:srgbClr val="14263F"/>
          </a:solidFill>
          <a:ln w="3810">
            <a:solidFill>
              <a:srgbClr val="2A3F5A"/>
            </a:solidFill>
            <a:prstDash val="solid"/>
          </a:ln>
        </p:spPr>
      </p:sp>
      <p:sp>
        <p:nvSpPr>
          <p:cNvPr id="21" name="Text 19"/>
          <p:cNvSpPr/>
          <p:nvPr/>
        </p:nvSpPr>
        <p:spPr>
          <a:xfrm>
            <a:off x="822960" y="34015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Static site</a:t>
            </a:r>
            <a:endParaRPr lang="en-US" sz="1200" dirty="0"/>
          </a:p>
        </p:txBody>
      </p:sp>
      <p:sp>
        <p:nvSpPr>
          <p:cNvPr id="22" name="Text 20"/>
          <p:cNvSpPr/>
          <p:nvPr/>
        </p:nvSpPr>
        <p:spPr>
          <a:xfrm>
            <a:off x="3108960" y="34015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Free CDN</a:t>
            </a:r>
            <a:endParaRPr lang="en-US" sz="1200" dirty="0"/>
          </a:p>
        </p:txBody>
      </p:sp>
      <p:sp>
        <p:nvSpPr>
          <p:cNvPr id="23" name="Text 21"/>
          <p:cNvSpPr/>
          <p:nvPr/>
        </p:nvSpPr>
        <p:spPr>
          <a:xfrm>
            <a:off x="4937760" y="34015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Never a bottleneck at this scale</a:t>
            </a:r>
            <a:endParaRPr lang="en-US" sz="1200" dirty="0"/>
          </a:p>
        </p:txBody>
      </p:sp>
      <p:sp>
        <p:nvSpPr>
          <p:cNvPr id="24" name="Text 22"/>
          <p:cNvSpPr/>
          <p:nvPr/>
        </p:nvSpPr>
        <p:spPr>
          <a:xfrm>
            <a:off x="9692640" y="34015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₹0</a:t>
            </a:r>
            <a:endParaRPr lang="en-US" sz="1200" dirty="0"/>
          </a:p>
        </p:txBody>
      </p:sp>
      <p:sp>
        <p:nvSpPr>
          <p:cNvPr id="25" name="Text 23"/>
          <p:cNvSpPr/>
          <p:nvPr/>
        </p:nvSpPr>
        <p:spPr>
          <a:xfrm>
            <a:off x="731520" y="4251960"/>
            <a:ext cx="109728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MESSAGING  ·  AT ~4,000 ORDERS / MONTH</a:t>
            </a:r>
            <a:endParaRPr lang="en-US" sz="1100" dirty="0"/>
          </a:p>
        </p:txBody>
      </p:sp>
      <p:sp>
        <p:nvSpPr>
          <p:cNvPr id="26" name="Shape 24"/>
          <p:cNvSpPr/>
          <p:nvPr/>
        </p:nvSpPr>
        <p:spPr>
          <a:xfrm>
            <a:off x="731520" y="4617720"/>
            <a:ext cx="10698480" cy="384048"/>
          </a:xfrm>
          <a:prstGeom prst="rect">
            <a:avLst/>
          </a:prstGeom>
          <a:solidFill>
            <a:srgbClr val="1A2E48"/>
          </a:solidFill>
          <a:ln w="6350">
            <a:solidFill>
              <a:srgbClr val="2A3F5A"/>
            </a:solidFill>
            <a:prstDash val="solid"/>
          </a:ln>
        </p:spPr>
      </p:sp>
      <p:sp>
        <p:nvSpPr>
          <p:cNvPr id="27" name="Text 25"/>
          <p:cNvSpPr/>
          <p:nvPr/>
        </p:nvSpPr>
        <p:spPr>
          <a:xfrm>
            <a:off x="822960" y="461772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Service</a:t>
            </a:r>
            <a:endParaRPr lang="en-US" sz="1100" dirty="0"/>
          </a:p>
        </p:txBody>
      </p:sp>
      <p:sp>
        <p:nvSpPr>
          <p:cNvPr id="28" name="Text 26"/>
          <p:cNvSpPr/>
          <p:nvPr/>
        </p:nvSpPr>
        <p:spPr>
          <a:xfrm>
            <a:off x="310896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Volume</a:t>
            </a:r>
            <a:endParaRPr lang="en-US" sz="1100" dirty="0"/>
          </a:p>
        </p:txBody>
      </p:sp>
      <p:sp>
        <p:nvSpPr>
          <p:cNvPr id="29" name="Text 27"/>
          <p:cNvSpPr/>
          <p:nvPr/>
        </p:nvSpPr>
        <p:spPr>
          <a:xfrm>
            <a:off x="4937760" y="461772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Notes</a:t>
            </a:r>
            <a:endParaRPr lang="en-US" sz="1100" dirty="0"/>
          </a:p>
        </p:txBody>
      </p:sp>
      <p:sp>
        <p:nvSpPr>
          <p:cNvPr id="30" name="Text 28"/>
          <p:cNvSpPr/>
          <p:nvPr/>
        </p:nvSpPr>
        <p:spPr>
          <a:xfrm>
            <a:off x="969264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31" name="Shape 29"/>
          <p:cNvSpPr/>
          <p:nvPr/>
        </p:nvSpPr>
        <p:spPr>
          <a:xfrm>
            <a:off x="731520" y="5001768"/>
            <a:ext cx="10698480" cy="365760"/>
          </a:xfrm>
          <a:prstGeom prst="rect">
            <a:avLst/>
          </a:prstGeom>
          <a:solidFill>
            <a:srgbClr val="14263F"/>
          </a:solidFill>
          <a:ln w="3810">
            <a:solidFill>
              <a:srgbClr val="2A3F5A"/>
            </a:solidFill>
            <a:prstDash val="solid"/>
          </a:ln>
        </p:spPr>
      </p:sp>
      <p:sp>
        <p:nvSpPr>
          <p:cNvPr id="32" name="Text 30"/>
          <p:cNvSpPr/>
          <p:nvPr/>
        </p:nvSpPr>
        <p:spPr>
          <a:xfrm>
            <a:off x="822960" y="50017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(Resend Pro)</a:t>
            </a:r>
            <a:endParaRPr lang="en-US" sz="1200" dirty="0"/>
          </a:p>
        </p:txBody>
      </p:sp>
      <p:sp>
        <p:nvSpPr>
          <p:cNvPr id="33" name="Text 31"/>
          <p:cNvSpPr/>
          <p:nvPr/>
        </p:nvSpPr>
        <p:spPr>
          <a:xfrm>
            <a:off x="3108960" y="50017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~5,000 /mo</a:t>
            </a:r>
            <a:endParaRPr lang="en-US" sz="1200" dirty="0"/>
          </a:p>
        </p:txBody>
      </p:sp>
      <p:sp>
        <p:nvSpPr>
          <p:cNvPr id="34" name="Text 32"/>
          <p:cNvSpPr/>
          <p:nvPr/>
        </p:nvSpPr>
        <p:spPr>
          <a:xfrm>
            <a:off x="4937760" y="50017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Just over free tier — needs Pro plan</a:t>
            </a:r>
            <a:endParaRPr lang="en-US" sz="1200" dirty="0"/>
          </a:p>
        </p:txBody>
      </p:sp>
      <p:sp>
        <p:nvSpPr>
          <p:cNvPr id="35" name="Text 33"/>
          <p:cNvSpPr/>
          <p:nvPr/>
        </p:nvSpPr>
        <p:spPr>
          <a:xfrm>
            <a:off x="9692640" y="50017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36" name="Shape 34"/>
          <p:cNvSpPr/>
          <p:nvPr/>
        </p:nvSpPr>
        <p:spPr>
          <a:xfrm>
            <a:off x="731520" y="5367528"/>
            <a:ext cx="10698480" cy="365760"/>
          </a:xfrm>
          <a:prstGeom prst="rect">
            <a:avLst/>
          </a:prstGeom>
          <a:solidFill>
            <a:srgbClr val="0B1520"/>
          </a:solidFill>
          <a:ln w="3810">
            <a:solidFill>
              <a:srgbClr val="2A3F5A"/>
            </a:solidFill>
            <a:prstDash val="solid"/>
          </a:ln>
        </p:spPr>
      </p:sp>
      <p:sp>
        <p:nvSpPr>
          <p:cNvPr id="37" name="Text 35"/>
          <p:cNvSpPr/>
          <p:nvPr/>
        </p:nvSpPr>
        <p:spPr>
          <a:xfrm>
            <a:off x="822960" y="536752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SMS (MSG91)</a:t>
            </a:r>
            <a:endParaRPr lang="en-US" sz="1200" dirty="0"/>
          </a:p>
        </p:txBody>
      </p:sp>
      <p:sp>
        <p:nvSpPr>
          <p:cNvPr id="38" name="Text 36"/>
          <p:cNvSpPr/>
          <p:nvPr/>
        </p:nvSpPr>
        <p:spPr>
          <a:xfrm>
            <a:off x="3108960" y="536752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~4,000 /mo</a:t>
            </a:r>
            <a:endParaRPr lang="en-US" sz="1200" dirty="0"/>
          </a:p>
        </p:txBody>
      </p:sp>
      <p:sp>
        <p:nvSpPr>
          <p:cNvPr id="39" name="Text 37"/>
          <p:cNvSpPr/>
          <p:nvPr/>
        </p:nvSpPr>
        <p:spPr>
          <a:xfrm>
            <a:off x="4937760" y="536752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Order confirmations, ~₹0.20 each</a:t>
            </a:r>
            <a:endParaRPr lang="en-US" sz="1200" dirty="0"/>
          </a:p>
        </p:txBody>
      </p:sp>
      <p:sp>
        <p:nvSpPr>
          <p:cNvPr id="40" name="Text 38"/>
          <p:cNvSpPr/>
          <p:nvPr/>
        </p:nvSpPr>
        <p:spPr>
          <a:xfrm>
            <a:off x="9692640" y="536752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₹800</a:t>
            </a:r>
            <a:endParaRPr lang="en-US" sz="1200" dirty="0"/>
          </a:p>
        </p:txBody>
      </p:sp>
      <p:sp>
        <p:nvSpPr>
          <p:cNvPr id="41" name="Shape 39"/>
          <p:cNvSpPr/>
          <p:nvPr/>
        </p:nvSpPr>
        <p:spPr>
          <a:xfrm>
            <a:off x="731520" y="5733288"/>
            <a:ext cx="10698480" cy="365760"/>
          </a:xfrm>
          <a:prstGeom prst="rect">
            <a:avLst/>
          </a:prstGeom>
          <a:solidFill>
            <a:srgbClr val="14263F"/>
          </a:solidFill>
          <a:ln w="3810">
            <a:solidFill>
              <a:srgbClr val="2A3F5A"/>
            </a:solidFill>
            <a:prstDash val="solid"/>
          </a:ln>
        </p:spPr>
      </p:sp>
      <p:sp>
        <p:nvSpPr>
          <p:cNvPr id="42" name="Text 40"/>
          <p:cNvSpPr/>
          <p:nvPr/>
        </p:nvSpPr>
        <p:spPr>
          <a:xfrm>
            <a:off x="822960" y="573328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WhatsApp tracking</a:t>
            </a:r>
            <a:endParaRPr lang="en-US" sz="1200" dirty="0"/>
          </a:p>
        </p:txBody>
      </p:sp>
      <p:sp>
        <p:nvSpPr>
          <p:cNvPr id="43" name="Text 41"/>
          <p:cNvSpPr/>
          <p:nvPr/>
        </p:nvSpPr>
        <p:spPr>
          <a:xfrm>
            <a:off x="3108960" y="573328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~4,000 /mo</a:t>
            </a:r>
            <a:endParaRPr lang="en-US" sz="1200" dirty="0"/>
          </a:p>
        </p:txBody>
      </p:sp>
      <p:sp>
        <p:nvSpPr>
          <p:cNvPr id="44" name="Text 42"/>
          <p:cNvSpPr/>
          <p:nvPr/>
        </p:nvSpPr>
        <p:spPr>
          <a:xfrm>
            <a:off x="4937760" y="573328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Utility conversation, ~₹0.30 each</a:t>
            </a:r>
            <a:endParaRPr lang="en-US" sz="1200" dirty="0"/>
          </a:p>
        </p:txBody>
      </p:sp>
      <p:sp>
        <p:nvSpPr>
          <p:cNvPr id="45" name="Text 43"/>
          <p:cNvSpPr/>
          <p:nvPr/>
        </p:nvSpPr>
        <p:spPr>
          <a:xfrm>
            <a:off x="9692640" y="573328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₹1,200</a:t>
            </a:r>
            <a:endParaRPr lang="en-US" sz="1200" dirty="0"/>
          </a:p>
        </p:txBody>
      </p:sp>
      <p:sp>
        <p:nvSpPr>
          <p:cNvPr id="46" name="Shape 44"/>
          <p:cNvSpPr/>
          <p:nvPr/>
        </p:nvSpPr>
        <p:spPr>
          <a:xfrm>
            <a:off x="731520" y="6263640"/>
            <a:ext cx="10698480" cy="502920"/>
          </a:xfrm>
          <a:prstGeom prst="roundRect">
            <a:avLst>
              <a:gd name="adj" fmla="val 18182"/>
            </a:avLst>
          </a:prstGeom>
          <a:solidFill>
            <a:srgbClr val="1A2E48"/>
          </a:solidFill>
          <a:ln w="12700">
            <a:solidFill>
              <a:srgbClr val="F0994A"/>
            </a:solidFill>
            <a:prstDash val="solid"/>
          </a:ln>
        </p:spPr>
      </p:sp>
      <p:sp>
        <p:nvSpPr>
          <p:cNvPr id="47" name="Text 45"/>
          <p:cNvSpPr/>
          <p:nvPr/>
        </p:nvSpPr>
        <p:spPr>
          <a:xfrm>
            <a:off x="960120" y="6309360"/>
            <a:ext cx="10424160" cy="457200"/>
          </a:xfrm>
          <a:prstGeom prst="rect">
            <a:avLst/>
          </a:prstGeom>
          <a:noFill/>
          <a:ln/>
        </p:spPr>
        <p:txBody>
          <a:bodyPr wrap="square" lIns="0" tIns="0" rIns="0" bIns="0" rtlCol="0" anchor="ctr"/>
          <a:lstStyle/>
          <a:p>
            <a:pPr indent="0" marL="0">
              <a:buNone/>
            </a:pPr>
            <a:r>
              <a:rPr lang="en-US" sz="1400" dirty="0">
                <a:solidFill>
                  <a:srgbClr val="CFC5AC"/>
                </a:solidFill>
                <a:latin typeface="Calibri" pitchFamily="34" charset="0"/>
                <a:ea typeface="Calibri" pitchFamily="34" charset="-122"/>
                <a:cs typeface="Calibri" pitchFamily="34" charset="-120"/>
              </a:rPr>
              <a:t>Monthly total: </a:t>
            </a:r>
            <a:pPr indent="0" marL="0">
              <a:buNone/>
            </a:pPr>
            <a:r>
              <a:rPr lang="en-US" sz="1600" b="1" dirty="0">
                <a:solidFill>
                  <a:srgbClr val="F0994A"/>
                </a:solidFill>
                <a:latin typeface="Cambria" pitchFamily="34" charset="0"/>
                <a:ea typeface="Cambria" pitchFamily="34" charset="-122"/>
                <a:cs typeface="Cambria" pitchFamily="34" charset="-120"/>
              </a:rPr>
              <a:t>~₹7,500 / month  ·  ₹3,800 infra + ₹3,700 messaging</a:t>
            </a:r>
            <a:endParaRPr lang="en-US" sz="1400" dirty="0"/>
          </a:p>
        </p:txBody>
      </p:sp>
      <p:sp>
        <p:nvSpPr>
          <p:cNvPr id="48" name="Text 46"/>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9" name="Text 47"/>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08 / 16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2743200" y="2743200"/>
            <a:ext cx="8229600" cy="8229600"/>
          </a:xfrm>
          <a:prstGeom prst="ellipse">
            <a:avLst/>
          </a:prstGeom>
          <a:solidFill>
            <a:srgbClr val="E9C36B">
              <a:alpha val="12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 Band 3  ·  Scale</a:t>
            </a:r>
            <a:endParaRPr lang="en-US" sz="1100" dirty="0"/>
          </a:p>
        </p:txBody>
      </p:sp>
      <p:sp>
        <p:nvSpPr>
          <p:cNvPr id="4" name="Text 2"/>
          <p:cNvSpPr/>
          <p:nvPr/>
        </p:nvSpPr>
        <p:spPr>
          <a:xfrm>
            <a:off x="731520" y="1371600"/>
            <a:ext cx="10972800" cy="1371600"/>
          </a:xfrm>
          <a:prstGeom prst="rect">
            <a:avLst/>
          </a:prstGeom>
          <a:noFill/>
          <a:ln/>
        </p:spPr>
        <p:txBody>
          <a:bodyPr wrap="square" lIns="0" tIns="0" rIns="0" bIns="0" rtlCol="0" anchor="ctr"/>
          <a:lstStyle/>
          <a:p>
            <a:pPr indent="0" marL="0">
              <a:buNone/>
            </a:pPr>
            <a:r>
              <a:rPr lang="en-US" sz="8000" b="1" dirty="0">
                <a:solidFill>
                  <a:srgbClr val="F5EDD8"/>
                </a:solidFill>
                <a:latin typeface="Cambria" pitchFamily="34" charset="0"/>
                <a:ea typeface="Cambria" pitchFamily="34" charset="-122"/>
                <a:cs typeface="Cambria" pitchFamily="34" charset="-120"/>
              </a:rPr>
              <a:t>100 – 200 CCU</a:t>
            </a:r>
            <a:endParaRPr lang="en-US" sz="8000" dirty="0"/>
          </a:p>
        </p:txBody>
      </p:sp>
      <p:sp>
        <p:nvSpPr>
          <p:cNvPr id="5" name="Text 3"/>
          <p:cNvSpPr/>
          <p:nvPr/>
        </p:nvSpPr>
        <p:spPr>
          <a:xfrm>
            <a:off x="731520" y="2834640"/>
            <a:ext cx="10972800" cy="548640"/>
          </a:xfrm>
          <a:prstGeom prst="rect">
            <a:avLst/>
          </a:prstGeom>
          <a:noFill/>
          <a:ln/>
        </p:spPr>
        <p:txBody>
          <a:bodyPr wrap="square" lIns="0" tIns="0" rIns="0" bIns="0" rtlCol="0" anchor="ctr"/>
          <a:lstStyle/>
          <a:p>
            <a:pPr indent="0" marL="0">
              <a:buNone/>
            </a:pPr>
            <a:r>
              <a:rPr lang="en-US" sz="2800" dirty="0">
                <a:solidFill>
                  <a:srgbClr val="CFC5AC"/>
                </a:solidFill>
                <a:latin typeface="Cambria" pitchFamily="34" charset="0"/>
                <a:ea typeface="Cambria" pitchFamily="34" charset="-122"/>
                <a:cs typeface="Cambria" pitchFamily="34" charset="-120"/>
              </a:rPr>
              <a:t>Household name. </a:t>
            </a:r>
            <a:pPr indent="0" marL="0">
              <a:buNone/>
            </a:pPr>
            <a:r>
              <a:rPr lang="en-US" sz="2800" dirty="0">
                <a:solidFill>
                  <a:srgbClr val="CFC5AC"/>
                </a:solidFill>
                <a:latin typeface="Cambria" pitchFamily="34" charset="0"/>
                <a:ea typeface="Cambria" pitchFamily="34" charset="-122"/>
                <a:cs typeface="Cambria" pitchFamily="34" charset="-120"/>
              </a:rPr>
              <a:t>National distribution. </a:t>
            </a:r>
            <a:pPr indent="0" marL="0">
              <a:buNone/>
            </a:pPr>
            <a:r>
              <a:rPr lang="en-US" sz="2800" i="1" dirty="0">
                <a:solidFill>
                  <a:srgbClr val="E9C36B"/>
                </a:solidFill>
                <a:latin typeface="Cambria" pitchFamily="34" charset="0"/>
                <a:ea typeface="Cambria" pitchFamily="34" charset="-122"/>
                <a:cs typeface="Cambria" pitchFamily="34" charset="-120"/>
              </a:rPr>
              <a:t>Real business.</a:t>
            </a:r>
            <a:endParaRPr lang="en-US" sz="2800" dirty="0"/>
          </a:p>
        </p:txBody>
      </p:sp>
      <p:sp>
        <p:nvSpPr>
          <p:cNvPr id="6" name="Shape 4"/>
          <p:cNvSpPr/>
          <p:nvPr/>
        </p:nvSpPr>
        <p:spPr>
          <a:xfrm>
            <a:off x="731520" y="3931920"/>
            <a:ext cx="3566160" cy="1920240"/>
          </a:xfrm>
          <a:prstGeom prst="roundRect">
            <a:avLst>
              <a:gd name="adj" fmla="val 4762"/>
            </a:avLst>
          </a:prstGeom>
          <a:solidFill>
            <a:srgbClr val="14263F"/>
          </a:solidFill>
          <a:ln w="6350">
            <a:solidFill>
              <a:srgbClr val="2A3F5A"/>
            </a:solidFill>
            <a:prstDash val="solid"/>
          </a:ln>
        </p:spPr>
      </p:sp>
      <p:sp>
        <p:nvSpPr>
          <p:cNvPr id="7" name="Text 5"/>
          <p:cNvSpPr/>
          <p:nvPr/>
        </p:nvSpPr>
        <p:spPr>
          <a:xfrm>
            <a:off x="100584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5EDD8"/>
                </a:solidFill>
                <a:latin typeface="Calibri" pitchFamily="34" charset="0"/>
                <a:ea typeface="Calibri" pitchFamily="34" charset="-122"/>
                <a:cs typeface="Calibri" pitchFamily="34" charset="-120"/>
              </a:rPr>
              <a:t>Monthly orders</a:t>
            </a:r>
            <a:endParaRPr lang="en-US" sz="1100" dirty="0"/>
          </a:p>
        </p:txBody>
      </p:sp>
      <p:sp>
        <p:nvSpPr>
          <p:cNvPr id="8" name="Text 6"/>
          <p:cNvSpPr/>
          <p:nvPr/>
        </p:nvSpPr>
        <p:spPr>
          <a:xfrm>
            <a:off x="100584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~8,000</a:t>
            </a:r>
            <a:endParaRPr lang="en-US" sz="4600" dirty="0"/>
          </a:p>
        </p:txBody>
      </p:sp>
      <p:sp>
        <p:nvSpPr>
          <p:cNvPr id="9" name="Shape 7"/>
          <p:cNvSpPr/>
          <p:nvPr/>
        </p:nvSpPr>
        <p:spPr>
          <a:xfrm>
            <a:off x="4526280" y="3931920"/>
            <a:ext cx="3566160" cy="1920240"/>
          </a:xfrm>
          <a:prstGeom prst="roundRect">
            <a:avLst>
              <a:gd name="adj" fmla="val 4762"/>
            </a:avLst>
          </a:prstGeom>
          <a:solidFill>
            <a:srgbClr val="14263F"/>
          </a:solidFill>
          <a:ln w="6350">
            <a:solidFill>
              <a:srgbClr val="2A3F5A"/>
            </a:solidFill>
            <a:prstDash val="solid"/>
          </a:ln>
        </p:spPr>
      </p:sp>
      <p:sp>
        <p:nvSpPr>
          <p:cNvPr id="10" name="Text 8"/>
          <p:cNvSpPr/>
          <p:nvPr/>
        </p:nvSpPr>
        <p:spPr>
          <a:xfrm>
            <a:off x="4800600" y="4114800"/>
            <a:ext cx="32004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Total / month</a:t>
            </a:r>
            <a:endParaRPr lang="en-US" sz="1100" dirty="0"/>
          </a:p>
        </p:txBody>
      </p:sp>
      <p:sp>
        <p:nvSpPr>
          <p:cNvPr id="11" name="Text 9"/>
          <p:cNvSpPr/>
          <p:nvPr/>
        </p:nvSpPr>
        <p:spPr>
          <a:xfrm>
            <a:off x="480060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₹14,600</a:t>
            </a:r>
            <a:endParaRPr lang="en-US" sz="4600" dirty="0"/>
          </a:p>
        </p:txBody>
      </p:sp>
      <p:sp>
        <p:nvSpPr>
          <p:cNvPr id="12" name="Shape 10"/>
          <p:cNvSpPr/>
          <p:nvPr/>
        </p:nvSpPr>
        <p:spPr>
          <a:xfrm>
            <a:off x="8321040" y="3931920"/>
            <a:ext cx="3566160" cy="1920240"/>
          </a:xfrm>
          <a:prstGeom prst="roundRect">
            <a:avLst>
              <a:gd name="adj" fmla="val 4762"/>
            </a:avLst>
          </a:prstGeom>
          <a:solidFill>
            <a:srgbClr val="14263F"/>
          </a:solidFill>
          <a:ln w="6350">
            <a:solidFill>
              <a:srgbClr val="2A3F5A"/>
            </a:solidFill>
            <a:prstDash val="solid"/>
          </a:ln>
        </p:spPr>
      </p:sp>
      <p:sp>
        <p:nvSpPr>
          <p:cNvPr id="13" name="Text 11"/>
          <p:cNvSpPr/>
          <p:nvPr/>
        </p:nvSpPr>
        <p:spPr>
          <a:xfrm>
            <a:off x="8595360" y="4114800"/>
            <a:ext cx="32004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2-year total</a:t>
            </a:r>
            <a:endParaRPr lang="en-US" sz="1100" dirty="0"/>
          </a:p>
        </p:txBody>
      </p:sp>
      <p:sp>
        <p:nvSpPr>
          <p:cNvPr id="14" name="Text 12"/>
          <p:cNvSpPr/>
          <p:nvPr/>
        </p:nvSpPr>
        <p:spPr>
          <a:xfrm>
            <a:off x="8595360" y="4480560"/>
            <a:ext cx="3200400" cy="1280160"/>
          </a:xfrm>
          <a:prstGeom prst="rect">
            <a:avLst/>
          </a:prstGeom>
          <a:noFill/>
          <a:ln/>
        </p:spPr>
        <p:txBody>
          <a:bodyPr wrap="square" lIns="0" tIns="0" rIns="0" bIns="0" rtlCol="0" anchor="ctr"/>
          <a:lstStyle/>
          <a:p>
            <a:pPr indent="0" marL="0">
              <a:buNone/>
            </a:pPr>
            <a:r>
              <a:rPr lang="en-US" sz="4600" b="1" dirty="0">
                <a:solidFill>
                  <a:srgbClr val="F5EDD8"/>
                </a:solidFill>
                <a:latin typeface="Cambria" pitchFamily="34" charset="0"/>
                <a:ea typeface="Cambria" pitchFamily="34" charset="-122"/>
                <a:cs typeface="Cambria" pitchFamily="34" charset="-120"/>
              </a:rPr>
              <a:t>₹3,50,000</a:t>
            </a:r>
            <a:endParaRPr lang="en-US" sz="4600" dirty="0"/>
          </a:p>
        </p:txBody>
      </p:sp>
      <p:sp>
        <p:nvSpPr>
          <p:cNvPr id="15" name="Text 1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6" name="Text 1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09 / 16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 100 – 200 CCU  ·  Breakdown</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What you pay </a:t>
            </a:r>
            <a:pPr indent="0" marL="0">
              <a:buNone/>
            </a:pPr>
            <a:r>
              <a:rPr lang="en-US" sz="4000" b="1" i="1" dirty="0">
                <a:solidFill>
                  <a:srgbClr val="E9C36B"/>
                </a:solidFill>
                <a:latin typeface="Cambria" pitchFamily="34" charset="0"/>
                <a:ea typeface="Cambria" pitchFamily="34" charset="-122"/>
                <a:cs typeface="Cambria" pitchFamily="34" charset="-120"/>
              </a:rPr>
              <a:t>each month.</a:t>
            </a:r>
            <a:endParaRPr lang="en-US" sz="4000" dirty="0"/>
          </a:p>
        </p:txBody>
      </p:sp>
      <p:sp>
        <p:nvSpPr>
          <p:cNvPr id="4" name="Text 2"/>
          <p:cNvSpPr/>
          <p:nvPr/>
        </p:nvSpPr>
        <p:spPr>
          <a:xfrm>
            <a:off x="731520" y="1920240"/>
            <a:ext cx="10972800" cy="320040"/>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INFRASTRUCTURE (RENDER)</a:t>
            </a:r>
            <a:endParaRPr lang="en-US" sz="1100" dirty="0"/>
          </a:p>
        </p:txBody>
      </p:sp>
      <p:sp>
        <p:nvSpPr>
          <p:cNvPr id="5" name="Shape 3"/>
          <p:cNvSpPr/>
          <p:nvPr/>
        </p:nvSpPr>
        <p:spPr>
          <a:xfrm>
            <a:off x="731520" y="2286000"/>
            <a:ext cx="10698480" cy="384048"/>
          </a:xfrm>
          <a:prstGeom prst="rect">
            <a:avLst/>
          </a:prstGeom>
          <a:solidFill>
            <a:srgbClr val="1A2E48"/>
          </a:solidFill>
          <a:ln w="6350">
            <a:solidFill>
              <a:srgbClr val="2A3F5A"/>
            </a:solidFill>
            <a:prstDash val="solid"/>
          </a:ln>
        </p:spPr>
      </p:sp>
      <p:sp>
        <p:nvSpPr>
          <p:cNvPr id="6" name="Text 4"/>
          <p:cNvSpPr/>
          <p:nvPr/>
        </p:nvSpPr>
        <p:spPr>
          <a:xfrm>
            <a:off x="822960" y="228600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Component</a:t>
            </a:r>
            <a:endParaRPr lang="en-US" sz="1100" dirty="0"/>
          </a:p>
        </p:txBody>
      </p:sp>
      <p:sp>
        <p:nvSpPr>
          <p:cNvPr id="7" name="Text 5"/>
          <p:cNvSpPr/>
          <p:nvPr/>
        </p:nvSpPr>
        <p:spPr>
          <a:xfrm>
            <a:off x="310896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Tier</a:t>
            </a:r>
            <a:endParaRPr lang="en-US" sz="1100" dirty="0"/>
          </a:p>
        </p:txBody>
      </p:sp>
      <p:sp>
        <p:nvSpPr>
          <p:cNvPr id="8" name="Text 6"/>
          <p:cNvSpPr/>
          <p:nvPr/>
        </p:nvSpPr>
        <p:spPr>
          <a:xfrm>
            <a:off x="4937760" y="228600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Configuration</a:t>
            </a:r>
            <a:endParaRPr lang="en-US" sz="1100" dirty="0"/>
          </a:p>
        </p:txBody>
      </p:sp>
      <p:sp>
        <p:nvSpPr>
          <p:cNvPr id="9" name="Text 7"/>
          <p:cNvSpPr/>
          <p:nvPr/>
        </p:nvSpPr>
        <p:spPr>
          <a:xfrm>
            <a:off x="9692640" y="228600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10" name="Shape 8"/>
          <p:cNvSpPr/>
          <p:nvPr/>
        </p:nvSpPr>
        <p:spPr>
          <a:xfrm>
            <a:off x="731520" y="2670048"/>
            <a:ext cx="10698480" cy="365760"/>
          </a:xfrm>
          <a:prstGeom prst="rect">
            <a:avLst/>
          </a:prstGeom>
          <a:solidFill>
            <a:srgbClr val="14263F"/>
          </a:solidFill>
          <a:ln w="3810">
            <a:solidFill>
              <a:srgbClr val="2A3F5A"/>
            </a:solidFill>
            <a:prstDash val="solid"/>
          </a:ln>
        </p:spPr>
      </p:sp>
      <p:sp>
        <p:nvSpPr>
          <p:cNvPr id="11" name="Text 9"/>
          <p:cNvSpPr/>
          <p:nvPr/>
        </p:nvSpPr>
        <p:spPr>
          <a:xfrm>
            <a:off x="822960" y="267004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Backend API</a:t>
            </a:r>
            <a:endParaRPr lang="en-US" sz="1200" dirty="0"/>
          </a:p>
        </p:txBody>
      </p:sp>
      <p:sp>
        <p:nvSpPr>
          <p:cNvPr id="12" name="Text 10"/>
          <p:cNvSpPr/>
          <p:nvPr/>
        </p:nvSpPr>
        <p:spPr>
          <a:xfrm>
            <a:off x="3108960" y="267004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Pro</a:t>
            </a:r>
            <a:endParaRPr lang="en-US" sz="1200" dirty="0"/>
          </a:p>
        </p:txBody>
      </p:sp>
      <p:sp>
        <p:nvSpPr>
          <p:cNvPr id="13" name="Text 11"/>
          <p:cNvSpPr/>
          <p:nvPr/>
        </p:nvSpPr>
        <p:spPr>
          <a:xfrm>
            <a:off x="4937760" y="267004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$85 — 4 GB RAM, 2 CPU, always on</a:t>
            </a:r>
            <a:endParaRPr lang="en-US" sz="1200" dirty="0"/>
          </a:p>
        </p:txBody>
      </p:sp>
      <p:sp>
        <p:nvSpPr>
          <p:cNvPr id="14" name="Text 12"/>
          <p:cNvSpPr/>
          <p:nvPr/>
        </p:nvSpPr>
        <p:spPr>
          <a:xfrm>
            <a:off x="9692640" y="267004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₹7,200</a:t>
            </a:r>
            <a:endParaRPr lang="en-US" sz="1200" dirty="0"/>
          </a:p>
        </p:txBody>
      </p:sp>
      <p:sp>
        <p:nvSpPr>
          <p:cNvPr id="15" name="Shape 13"/>
          <p:cNvSpPr/>
          <p:nvPr/>
        </p:nvSpPr>
        <p:spPr>
          <a:xfrm>
            <a:off x="731520" y="3035808"/>
            <a:ext cx="10698480" cy="365760"/>
          </a:xfrm>
          <a:prstGeom prst="rect">
            <a:avLst/>
          </a:prstGeom>
          <a:solidFill>
            <a:srgbClr val="0B1520"/>
          </a:solidFill>
          <a:ln w="3810">
            <a:solidFill>
              <a:srgbClr val="2A3F5A"/>
            </a:solidFill>
            <a:prstDash val="solid"/>
          </a:ln>
        </p:spPr>
      </p:sp>
      <p:sp>
        <p:nvSpPr>
          <p:cNvPr id="16" name="Text 14"/>
          <p:cNvSpPr/>
          <p:nvPr/>
        </p:nvSpPr>
        <p:spPr>
          <a:xfrm>
            <a:off x="822960" y="303580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Postgres DB</a:t>
            </a:r>
            <a:endParaRPr lang="en-US" sz="1200" dirty="0"/>
          </a:p>
        </p:txBody>
      </p:sp>
      <p:sp>
        <p:nvSpPr>
          <p:cNvPr id="17" name="Text 15"/>
          <p:cNvSpPr/>
          <p:nvPr/>
        </p:nvSpPr>
        <p:spPr>
          <a:xfrm>
            <a:off x="3108960" y="303580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8" name="Text 16"/>
          <p:cNvSpPr/>
          <p:nvPr/>
        </p:nvSpPr>
        <p:spPr>
          <a:xfrm>
            <a:off x="4937760" y="303580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 — 1 GB RAM, 10 GB storage</a:t>
            </a:r>
            <a:endParaRPr lang="en-US" sz="1200" dirty="0"/>
          </a:p>
        </p:txBody>
      </p:sp>
      <p:sp>
        <p:nvSpPr>
          <p:cNvPr id="19" name="Text 17"/>
          <p:cNvSpPr/>
          <p:nvPr/>
        </p:nvSpPr>
        <p:spPr>
          <a:xfrm>
            <a:off x="9692640" y="303580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20" name="Shape 18"/>
          <p:cNvSpPr/>
          <p:nvPr/>
        </p:nvSpPr>
        <p:spPr>
          <a:xfrm>
            <a:off x="731520" y="3401568"/>
            <a:ext cx="10698480" cy="365760"/>
          </a:xfrm>
          <a:prstGeom prst="rect">
            <a:avLst/>
          </a:prstGeom>
          <a:solidFill>
            <a:srgbClr val="14263F"/>
          </a:solidFill>
          <a:ln w="3810">
            <a:solidFill>
              <a:srgbClr val="2A3F5A"/>
            </a:solidFill>
            <a:prstDash val="solid"/>
          </a:ln>
        </p:spPr>
      </p:sp>
      <p:sp>
        <p:nvSpPr>
          <p:cNvPr id="21" name="Text 19"/>
          <p:cNvSpPr/>
          <p:nvPr/>
        </p:nvSpPr>
        <p:spPr>
          <a:xfrm>
            <a:off x="822960" y="34015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Static site</a:t>
            </a:r>
            <a:endParaRPr lang="en-US" sz="1200" dirty="0"/>
          </a:p>
        </p:txBody>
      </p:sp>
      <p:sp>
        <p:nvSpPr>
          <p:cNvPr id="22" name="Text 20"/>
          <p:cNvSpPr/>
          <p:nvPr/>
        </p:nvSpPr>
        <p:spPr>
          <a:xfrm>
            <a:off x="3108960" y="34015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Free CDN</a:t>
            </a:r>
            <a:endParaRPr lang="en-US" sz="1200" dirty="0"/>
          </a:p>
        </p:txBody>
      </p:sp>
      <p:sp>
        <p:nvSpPr>
          <p:cNvPr id="23" name="Text 21"/>
          <p:cNvSpPr/>
          <p:nvPr/>
        </p:nvSpPr>
        <p:spPr>
          <a:xfrm>
            <a:off x="4937760" y="34015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Still free at this scale</a:t>
            </a:r>
            <a:endParaRPr lang="en-US" sz="1200" dirty="0"/>
          </a:p>
        </p:txBody>
      </p:sp>
      <p:sp>
        <p:nvSpPr>
          <p:cNvPr id="24" name="Text 22"/>
          <p:cNvSpPr/>
          <p:nvPr/>
        </p:nvSpPr>
        <p:spPr>
          <a:xfrm>
            <a:off x="9692640" y="34015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₹0</a:t>
            </a:r>
            <a:endParaRPr lang="en-US" sz="1200" dirty="0"/>
          </a:p>
        </p:txBody>
      </p:sp>
      <p:sp>
        <p:nvSpPr>
          <p:cNvPr id="25" name="Text 23"/>
          <p:cNvSpPr/>
          <p:nvPr/>
        </p:nvSpPr>
        <p:spPr>
          <a:xfrm>
            <a:off x="731520" y="4251960"/>
            <a:ext cx="10972800" cy="320040"/>
          </a:xfrm>
          <a:prstGeom prst="rect">
            <a:avLst/>
          </a:prstGeom>
          <a:noFill/>
          <a:ln/>
        </p:spPr>
        <p:txBody>
          <a:bodyPr wrap="square" lIns="0" tIns="0" rIns="0" bIns="0" rtlCol="0" anchor="ctr"/>
          <a:lstStyle/>
          <a:p>
            <a:pPr indent="0" marL="0">
              <a:buNone/>
            </a:pPr>
            <a:r>
              <a:rPr lang="en-US" sz="1100" b="1" spc="400" kern="0" dirty="0">
                <a:solidFill>
                  <a:srgbClr val="E9C36B"/>
                </a:solidFill>
                <a:latin typeface="Calibri" pitchFamily="34" charset="0"/>
                <a:ea typeface="Calibri" pitchFamily="34" charset="-122"/>
                <a:cs typeface="Calibri" pitchFamily="34" charset="-120"/>
              </a:rPr>
              <a:t>MESSAGING  ·  AT ~8,000 ORDERS / MONTH</a:t>
            </a:r>
            <a:endParaRPr lang="en-US" sz="1100" dirty="0"/>
          </a:p>
        </p:txBody>
      </p:sp>
      <p:sp>
        <p:nvSpPr>
          <p:cNvPr id="26" name="Shape 24"/>
          <p:cNvSpPr/>
          <p:nvPr/>
        </p:nvSpPr>
        <p:spPr>
          <a:xfrm>
            <a:off x="731520" y="4617720"/>
            <a:ext cx="10698480" cy="384048"/>
          </a:xfrm>
          <a:prstGeom prst="rect">
            <a:avLst/>
          </a:prstGeom>
          <a:solidFill>
            <a:srgbClr val="1A2E48"/>
          </a:solidFill>
          <a:ln w="6350">
            <a:solidFill>
              <a:srgbClr val="2A3F5A"/>
            </a:solidFill>
            <a:prstDash val="solid"/>
          </a:ln>
        </p:spPr>
      </p:sp>
      <p:sp>
        <p:nvSpPr>
          <p:cNvPr id="27" name="Text 25"/>
          <p:cNvSpPr/>
          <p:nvPr/>
        </p:nvSpPr>
        <p:spPr>
          <a:xfrm>
            <a:off x="822960" y="461772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Service</a:t>
            </a:r>
            <a:endParaRPr lang="en-US" sz="1100" dirty="0"/>
          </a:p>
        </p:txBody>
      </p:sp>
      <p:sp>
        <p:nvSpPr>
          <p:cNvPr id="28" name="Text 26"/>
          <p:cNvSpPr/>
          <p:nvPr/>
        </p:nvSpPr>
        <p:spPr>
          <a:xfrm>
            <a:off x="310896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Volume</a:t>
            </a:r>
            <a:endParaRPr lang="en-US" sz="1100" dirty="0"/>
          </a:p>
        </p:txBody>
      </p:sp>
      <p:sp>
        <p:nvSpPr>
          <p:cNvPr id="29" name="Text 27"/>
          <p:cNvSpPr/>
          <p:nvPr/>
        </p:nvSpPr>
        <p:spPr>
          <a:xfrm>
            <a:off x="4937760" y="4617720"/>
            <a:ext cx="4617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Notes</a:t>
            </a:r>
            <a:endParaRPr lang="en-US" sz="1100" dirty="0"/>
          </a:p>
        </p:txBody>
      </p:sp>
      <p:sp>
        <p:nvSpPr>
          <p:cNvPr id="30" name="Text 28"/>
          <p:cNvSpPr/>
          <p:nvPr/>
        </p:nvSpPr>
        <p:spPr>
          <a:xfrm>
            <a:off x="9692640" y="461772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Cost / month</a:t>
            </a:r>
            <a:endParaRPr lang="en-US" sz="1100" dirty="0"/>
          </a:p>
        </p:txBody>
      </p:sp>
      <p:sp>
        <p:nvSpPr>
          <p:cNvPr id="31" name="Shape 29"/>
          <p:cNvSpPr/>
          <p:nvPr/>
        </p:nvSpPr>
        <p:spPr>
          <a:xfrm>
            <a:off x="731520" y="5001768"/>
            <a:ext cx="10698480" cy="365760"/>
          </a:xfrm>
          <a:prstGeom prst="rect">
            <a:avLst/>
          </a:prstGeom>
          <a:solidFill>
            <a:srgbClr val="14263F"/>
          </a:solidFill>
          <a:ln w="3810">
            <a:solidFill>
              <a:srgbClr val="2A3F5A"/>
            </a:solidFill>
            <a:prstDash val="solid"/>
          </a:ln>
        </p:spPr>
      </p:sp>
      <p:sp>
        <p:nvSpPr>
          <p:cNvPr id="32" name="Text 30"/>
          <p:cNvSpPr/>
          <p:nvPr/>
        </p:nvSpPr>
        <p:spPr>
          <a:xfrm>
            <a:off x="822960" y="500176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(Resend Pro)</a:t>
            </a:r>
            <a:endParaRPr lang="en-US" sz="1200" dirty="0"/>
          </a:p>
        </p:txBody>
      </p:sp>
      <p:sp>
        <p:nvSpPr>
          <p:cNvPr id="33" name="Text 31"/>
          <p:cNvSpPr/>
          <p:nvPr/>
        </p:nvSpPr>
        <p:spPr>
          <a:xfrm>
            <a:off x="3108960" y="500176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~10,000 /mo</a:t>
            </a:r>
            <a:endParaRPr lang="en-US" sz="1200" dirty="0"/>
          </a:p>
        </p:txBody>
      </p:sp>
      <p:sp>
        <p:nvSpPr>
          <p:cNvPr id="34" name="Text 32"/>
          <p:cNvSpPr/>
          <p:nvPr/>
        </p:nvSpPr>
        <p:spPr>
          <a:xfrm>
            <a:off x="4937760" y="500176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Still well under 50k Pro tier cap</a:t>
            </a:r>
            <a:endParaRPr lang="en-US" sz="1200" dirty="0"/>
          </a:p>
        </p:txBody>
      </p:sp>
      <p:sp>
        <p:nvSpPr>
          <p:cNvPr id="35" name="Text 33"/>
          <p:cNvSpPr/>
          <p:nvPr/>
        </p:nvSpPr>
        <p:spPr>
          <a:xfrm>
            <a:off x="9692640" y="500176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a:t>
            </a:r>
            <a:endParaRPr lang="en-US" sz="1200" dirty="0"/>
          </a:p>
        </p:txBody>
      </p:sp>
      <p:sp>
        <p:nvSpPr>
          <p:cNvPr id="36" name="Shape 34"/>
          <p:cNvSpPr/>
          <p:nvPr/>
        </p:nvSpPr>
        <p:spPr>
          <a:xfrm>
            <a:off x="731520" y="5367528"/>
            <a:ext cx="10698480" cy="365760"/>
          </a:xfrm>
          <a:prstGeom prst="rect">
            <a:avLst/>
          </a:prstGeom>
          <a:solidFill>
            <a:srgbClr val="0B1520"/>
          </a:solidFill>
          <a:ln w="3810">
            <a:solidFill>
              <a:srgbClr val="2A3F5A"/>
            </a:solidFill>
            <a:prstDash val="solid"/>
          </a:ln>
        </p:spPr>
      </p:sp>
      <p:sp>
        <p:nvSpPr>
          <p:cNvPr id="37" name="Text 35"/>
          <p:cNvSpPr/>
          <p:nvPr/>
        </p:nvSpPr>
        <p:spPr>
          <a:xfrm>
            <a:off x="822960" y="536752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SMS (MSG91)</a:t>
            </a:r>
            <a:endParaRPr lang="en-US" sz="1200" dirty="0"/>
          </a:p>
        </p:txBody>
      </p:sp>
      <p:sp>
        <p:nvSpPr>
          <p:cNvPr id="38" name="Text 36"/>
          <p:cNvSpPr/>
          <p:nvPr/>
        </p:nvSpPr>
        <p:spPr>
          <a:xfrm>
            <a:off x="3108960" y="536752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~8,000 /mo</a:t>
            </a:r>
            <a:endParaRPr lang="en-US" sz="1200" dirty="0"/>
          </a:p>
        </p:txBody>
      </p:sp>
      <p:sp>
        <p:nvSpPr>
          <p:cNvPr id="39" name="Text 37"/>
          <p:cNvSpPr/>
          <p:nvPr/>
        </p:nvSpPr>
        <p:spPr>
          <a:xfrm>
            <a:off x="4937760" y="536752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Order confirmations</a:t>
            </a:r>
            <a:endParaRPr lang="en-US" sz="1200" dirty="0"/>
          </a:p>
        </p:txBody>
      </p:sp>
      <p:sp>
        <p:nvSpPr>
          <p:cNvPr id="40" name="Text 38"/>
          <p:cNvSpPr/>
          <p:nvPr/>
        </p:nvSpPr>
        <p:spPr>
          <a:xfrm>
            <a:off x="9692640" y="536752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₹1,600</a:t>
            </a:r>
            <a:endParaRPr lang="en-US" sz="1200" dirty="0"/>
          </a:p>
        </p:txBody>
      </p:sp>
      <p:sp>
        <p:nvSpPr>
          <p:cNvPr id="41" name="Shape 39"/>
          <p:cNvSpPr/>
          <p:nvPr/>
        </p:nvSpPr>
        <p:spPr>
          <a:xfrm>
            <a:off x="731520" y="5733288"/>
            <a:ext cx="10698480" cy="365760"/>
          </a:xfrm>
          <a:prstGeom prst="rect">
            <a:avLst/>
          </a:prstGeom>
          <a:solidFill>
            <a:srgbClr val="14263F"/>
          </a:solidFill>
          <a:ln w="3810">
            <a:solidFill>
              <a:srgbClr val="2A3F5A"/>
            </a:solidFill>
            <a:prstDash val="solid"/>
          </a:ln>
        </p:spPr>
      </p:sp>
      <p:sp>
        <p:nvSpPr>
          <p:cNvPr id="42" name="Text 40"/>
          <p:cNvSpPr/>
          <p:nvPr/>
        </p:nvSpPr>
        <p:spPr>
          <a:xfrm>
            <a:off x="822960" y="5733288"/>
            <a:ext cx="2148840" cy="36576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WhatsApp tracking</a:t>
            </a:r>
            <a:endParaRPr lang="en-US" sz="1200" dirty="0"/>
          </a:p>
        </p:txBody>
      </p:sp>
      <p:sp>
        <p:nvSpPr>
          <p:cNvPr id="43" name="Text 41"/>
          <p:cNvSpPr/>
          <p:nvPr/>
        </p:nvSpPr>
        <p:spPr>
          <a:xfrm>
            <a:off x="3108960" y="5733288"/>
            <a:ext cx="169164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~8,000 /mo</a:t>
            </a:r>
            <a:endParaRPr lang="en-US" sz="1200" dirty="0"/>
          </a:p>
        </p:txBody>
      </p:sp>
      <p:sp>
        <p:nvSpPr>
          <p:cNvPr id="44" name="Text 42"/>
          <p:cNvSpPr/>
          <p:nvPr/>
        </p:nvSpPr>
        <p:spPr>
          <a:xfrm>
            <a:off x="4937760" y="5733288"/>
            <a:ext cx="4617720" cy="36576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Utility conversation</a:t>
            </a:r>
            <a:endParaRPr lang="en-US" sz="1200" dirty="0"/>
          </a:p>
        </p:txBody>
      </p:sp>
      <p:sp>
        <p:nvSpPr>
          <p:cNvPr id="45" name="Text 43"/>
          <p:cNvSpPr/>
          <p:nvPr/>
        </p:nvSpPr>
        <p:spPr>
          <a:xfrm>
            <a:off x="9692640" y="5733288"/>
            <a:ext cx="1691640" cy="36576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₹2,400</a:t>
            </a:r>
            <a:endParaRPr lang="en-US" sz="1200" dirty="0"/>
          </a:p>
        </p:txBody>
      </p:sp>
      <p:sp>
        <p:nvSpPr>
          <p:cNvPr id="46" name="Shape 44"/>
          <p:cNvSpPr/>
          <p:nvPr/>
        </p:nvSpPr>
        <p:spPr>
          <a:xfrm>
            <a:off x="731520" y="6263640"/>
            <a:ext cx="10698480" cy="502920"/>
          </a:xfrm>
          <a:prstGeom prst="roundRect">
            <a:avLst>
              <a:gd name="adj" fmla="val 18182"/>
            </a:avLst>
          </a:prstGeom>
          <a:solidFill>
            <a:srgbClr val="1A2E48"/>
          </a:solidFill>
          <a:ln w="12700">
            <a:solidFill>
              <a:srgbClr val="E9C36B"/>
            </a:solidFill>
            <a:prstDash val="solid"/>
          </a:ln>
        </p:spPr>
      </p:sp>
      <p:sp>
        <p:nvSpPr>
          <p:cNvPr id="47" name="Text 45"/>
          <p:cNvSpPr/>
          <p:nvPr/>
        </p:nvSpPr>
        <p:spPr>
          <a:xfrm>
            <a:off x="960120" y="6309360"/>
            <a:ext cx="10424160" cy="457200"/>
          </a:xfrm>
          <a:prstGeom prst="rect">
            <a:avLst/>
          </a:prstGeom>
          <a:noFill/>
          <a:ln/>
        </p:spPr>
        <p:txBody>
          <a:bodyPr wrap="square" lIns="0" tIns="0" rIns="0" bIns="0" rtlCol="0" anchor="ctr"/>
          <a:lstStyle/>
          <a:p>
            <a:pPr indent="0" marL="0">
              <a:buNone/>
            </a:pPr>
            <a:r>
              <a:rPr lang="en-US" sz="1400" dirty="0">
                <a:solidFill>
                  <a:srgbClr val="CFC5AC"/>
                </a:solidFill>
                <a:latin typeface="Calibri" pitchFamily="34" charset="0"/>
                <a:ea typeface="Calibri" pitchFamily="34" charset="-122"/>
                <a:cs typeface="Calibri" pitchFamily="34" charset="-120"/>
              </a:rPr>
              <a:t>Monthly total: </a:t>
            </a:r>
            <a:pPr indent="0" marL="0">
              <a:buNone/>
            </a:pPr>
            <a:r>
              <a:rPr lang="en-US" sz="1600" b="1" dirty="0">
                <a:solidFill>
                  <a:srgbClr val="E9C36B"/>
                </a:solidFill>
                <a:latin typeface="Cambria" pitchFamily="34" charset="0"/>
                <a:ea typeface="Cambria" pitchFamily="34" charset="-122"/>
                <a:cs typeface="Cambria" pitchFamily="34" charset="-120"/>
              </a:rPr>
              <a:t>~₹14,600 / month  ·  ₹8,900 infra + ₹5,700 messaging</a:t>
            </a:r>
            <a:endParaRPr lang="en-US" sz="1400" dirty="0"/>
          </a:p>
        </p:txBody>
      </p:sp>
      <p:sp>
        <p:nvSpPr>
          <p:cNvPr id="48" name="Text 46"/>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9" name="Text 47"/>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10 / 16</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Side by side</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Every band, </a:t>
            </a:r>
            <a:pPr indent="0" marL="0">
              <a:buNone/>
            </a:pPr>
            <a:r>
              <a:rPr lang="en-US" sz="4000" b="1" i="1" dirty="0">
                <a:solidFill>
                  <a:srgbClr val="F0994A"/>
                </a:solidFill>
                <a:latin typeface="Cambria" pitchFamily="34" charset="0"/>
                <a:ea typeface="Cambria" pitchFamily="34" charset="-122"/>
                <a:cs typeface="Cambria" pitchFamily="34" charset="-120"/>
              </a:rPr>
              <a:t>in one look.</a:t>
            </a:r>
            <a:endParaRPr lang="en-US" sz="4000" dirty="0"/>
          </a:p>
        </p:txBody>
      </p:sp>
      <p:sp>
        <p:nvSpPr>
          <p:cNvPr id="4" name="Shape 2"/>
          <p:cNvSpPr/>
          <p:nvPr/>
        </p:nvSpPr>
        <p:spPr>
          <a:xfrm>
            <a:off x="731520" y="1965960"/>
            <a:ext cx="10698480" cy="384048"/>
          </a:xfrm>
          <a:prstGeom prst="rect">
            <a:avLst/>
          </a:prstGeom>
          <a:solidFill>
            <a:srgbClr val="1A2E48"/>
          </a:solidFill>
          <a:ln w="6350">
            <a:solidFill>
              <a:srgbClr val="2A3F5A"/>
            </a:solidFill>
            <a:prstDash val="solid"/>
          </a:ln>
        </p:spPr>
      </p:sp>
      <p:sp>
        <p:nvSpPr>
          <p:cNvPr id="5" name="Text 3"/>
          <p:cNvSpPr/>
          <p:nvPr/>
        </p:nvSpPr>
        <p:spPr>
          <a:xfrm>
            <a:off x="822960" y="1965960"/>
            <a:ext cx="2331720" cy="384048"/>
          </a:xfrm>
          <a:prstGeom prst="rect">
            <a:avLst/>
          </a:prstGeom>
          <a:noFill/>
          <a:ln/>
        </p:spPr>
        <p:txBody>
          <a:bodyPr wrap="square" lIns="0" tIns="0" rIns="0" bIns="0" rtlCol="0" anchor="ctr"/>
          <a:lstStyle/>
          <a:p>
            <a:pPr indent="0" marL="0">
              <a:buNone/>
            </a:pPr>
            <a:endParaRPr lang="en-US" sz="1100" dirty="0"/>
          </a:p>
        </p:txBody>
      </p:sp>
      <p:sp>
        <p:nvSpPr>
          <p:cNvPr id="6" name="Text 4"/>
          <p:cNvSpPr/>
          <p:nvPr/>
        </p:nvSpPr>
        <p:spPr>
          <a:xfrm>
            <a:off x="3291840" y="1965960"/>
            <a:ext cx="2606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10 – 50 CCU</a:t>
            </a:r>
            <a:endParaRPr lang="en-US" sz="1100" dirty="0"/>
          </a:p>
        </p:txBody>
      </p:sp>
      <p:sp>
        <p:nvSpPr>
          <p:cNvPr id="7" name="Text 5"/>
          <p:cNvSpPr/>
          <p:nvPr/>
        </p:nvSpPr>
        <p:spPr>
          <a:xfrm>
            <a:off x="6035040" y="1965960"/>
            <a:ext cx="2606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50 – 100 CCU</a:t>
            </a:r>
            <a:endParaRPr lang="en-US" sz="1100" dirty="0"/>
          </a:p>
        </p:txBody>
      </p:sp>
      <p:sp>
        <p:nvSpPr>
          <p:cNvPr id="8" name="Text 6"/>
          <p:cNvSpPr/>
          <p:nvPr/>
        </p:nvSpPr>
        <p:spPr>
          <a:xfrm>
            <a:off x="8778240" y="1965960"/>
            <a:ext cx="2606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100 – 200 CCU</a:t>
            </a:r>
            <a:endParaRPr lang="en-US" sz="1100" dirty="0"/>
          </a:p>
        </p:txBody>
      </p:sp>
      <p:sp>
        <p:nvSpPr>
          <p:cNvPr id="9" name="Shape 7"/>
          <p:cNvSpPr/>
          <p:nvPr/>
        </p:nvSpPr>
        <p:spPr>
          <a:xfrm>
            <a:off x="731520" y="2350008"/>
            <a:ext cx="10698480" cy="384048"/>
          </a:xfrm>
          <a:prstGeom prst="rect">
            <a:avLst/>
          </a:prstGeom>
          <a:solidFill>
            <a:srgbClr val="14263F"/>
          </a:solidFill>
          <a:ln w="3810">
            <a:solidFill>
              <a:srgbClr val="2A3F5A"/>
            </a:solidFill>
            <a:prstDash val="solid"/>
          </a:ln>
        </p:spPr>
      </p:sp>
      <p:sp>
        <p:nvSpPr>
          <p:cNvPr id="10" name="Text 8"/>
          <p:cNvSpPr/>
          <p:nvPr/>
        </p:nvSpPr>
        <p:spPr>
          <a:xfrm>
            <a:off x="822960" y="2350008"/>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Business stage</a:t>
            </a:r>
            <a:endParaRPr lang="en-US" sz="1200" dirty="0"/>
          </a:p>
        </p:txBody>
      </p:sp>
      <p:sp>
        <p:nvSpPr>
          <p:cNvPr id="11" name="Text 9"/>
          <p:cNvSpPr/>
          <p:nvPr/>
        </p:nvSpPr>
        <p:spPr>
          <a:xfrm>
            <a:off x="3291840" y="2350008"/>
            <a:ext cx="2606040" cy="384048"/>
          </a:xfrm>
          <a:prstGeom prst="rect">
            <a:avLst/>
          </a:prstGeom>
          <a:noFill/>
          <a:ln/>
        </p:spPr>
        <p:txBody>
          <a:bodyPr wrap="square" lIns="0" tIns="0" rIns="0" bIns="0" rtlCol="0" anchor="ctr"/>
          <a:lstStyle/>
          <a:p>
            <a:pPr indent="0" marL="0">
              <a:buNone/>
            </a:pPr>
            <a:r>
              <a:rPr lang="en-US" sz="1200" b="1" dirty="0">
                <a:solidFill>
                  <a:srgbClr val="4A8FA8"/>
                </a:solidFill>
                <a:latin typeface="Calibri" pitchFamily="34" charset="0"/>
                <a:ea typeface="Calibri" pitchFamily="34" charset="-122"/>
                <a:cs typeface="Calibri" pitchFamily="34" charset="-120"/>
              </a:rPr>
              <a:t>Post-launch</a:t>
            </a:r>
            <a:endParaRPr lang="en-US" sz="1200" dirty="0"/>
          </a:p>
        </p:txBody>
      </p:sp>
      <p:sp>
        <p:nvSpPr>
          <p:cNvPr id="12" name="Text 10"/>
          <p:cNvSpPr/>
          <p:nvPr/>
        </p:nvSpPr>
        <p:spPr>
          <a:xfrm>
            <a:off x="6035040" y="2350008"/>
            <a:ext cx="2606040" cy="384048"/>
          </a:xfrm>
          <a:prstGeom prst="rect">
            <a:avLst/>
          </a:prstGeom>
          <a:noFill/>
          <a:ln/>
        </p:spPr>
        <p:txBody>
          <a:bodyPr wrap="square" lIns="0" tIns="0" rIns="0" bIns="0" rtlCol="0" anchor="ctr"/>
          <a:lstStyle/>
          <a:p>
            <a:pPr indent="0" marL="0">
              <a:buNone/>
            </a:pPr>
            <a:r>
              <a:rPr lang="en-US" sz="1200" b="1" dirty="0">
                <a:solidFill>
                  <a:srgbClr val="F0994A"/>
                </a:solidFill>
                <a:latin typeface="Calibri" pitchFamily="34" charset="0"/>
                <a:ea typeface="Calibri" pitchFamily="34" charset="-122"/>
                <a:cs typeface="Calibri" pitchFamily="34" charset="-120"/>
              </a:rPr>
              <a:t>Established</a:t>
            </a:r>
            <a:endParaRPr lang="en-US" sz="1200" dirty="0"/>
          </a:p>
        </p:txBody>
      </p:sp>
      <p:sp>
        <p:nvSpPr>
          <p:cNvPr id="13" name="Text 11"/>
          <p:cNvSpPr/>
          <p:nvPr/>
        </p:nvSpPr>
        <p:spPr>
          <a:xfrm>
            <a:off x="8778240" y="2350008"/>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Well past PMF</a:t>
            </a:r>
            <a:endParaRPr lang="en-US" sz="1200" dirty="0"/>
          </a:p>
        </p:txBody>
      </p:sp>
      <p:sp>
        <p:nvSpPr>
          <p:cNvPr id="14" name="Shape 12"/>
          <p:cNvSpPr/>
          <p:nvPr/>
        </p:nvSpPr>
        <p:spPr>
          <a:xfrm>
            <a:off x="731520" y="2734056"/>
            <a:ext cx="10698480" cy="384048"/>
          </a:xfrm>
          <a:prstGeom prst="rect">
            <a:avLst/>
          </a:prstGeom>
          <a:solidFill>
            <a:srgbClr val="0B1520"/>
          </a:solidFill>
          <a:ln w="3810">
            <a:solidFill>
              <a:srgbClr val="2A3F5A"/>
            </a:solidFill>
            <a:prstDash val="solid"/>
          </a:ln>
        </p:spPr>
      </p:sp>
      <p:sp>
        <p:nvSpPr>
          <p:cNvPr id="15" name="Text 13"/>
          <p:cNvSpPr/>
          <p:nvPr/>
        </p:nvSpPr>
        <p:spPr>
          <a:xfrm>
            <a:off x="822960" y="2734056"/>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Monthly orders</a:t>
            </a:r>
            <a:endParaRPr lang="en-US" sz="1200" dirty="0"/>
          </a:p>
        </p:txBody>
      </p:sp>
      <p:sp>
        <p:nvSpPr>
          <p:cNvPr id="16" name="Text 14"/>
          <p:cNvSpPr/>
          <p:nvPr/>
        </p:nvSpPr>
        <p:spPr>
          <a:xfrm>
            <a:off x="3291840" y="273405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~2,000</a:t>
            </a:r>
            <a:endParaRPr lang="en-US" sz="1200" dirty="0"/>
          </a:p>
        </p:txBody>
      </p:sp>
      <p:sp>
        <p:nvSpPr>
          <p:cNvPr id="17" name="Text 15"/>
          <p:cNvSpPr/>
          <p:nvPr/>
        </p:nvSpPr>
        <p:spPr>
          <a:xfrm>
            <a:off x="6035040" y="273405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~4,000</a:t>
            </a:r>
            <a:endParaRPr lang="en-US" sz="1200" dirty="0"/>
          </a:p>
        </p:txBody>
      </p:sp>
      <p:sp>
        <p:nvSpPr>
          <p:cNvPr id="18" name="Text 16"/>
          <p:cNvSpPr/>
          <p:nvPr/>
        </p:nvSpPr>
        <p:spPr>
          <a:xfrm>
            <a:off x="8778240" y="2734056"/>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~8,000</a:t>
            </a:r>
            <a:endParaRPr lang="en-US" sz="1200" dirty="0"/>
          </a:p>
        </p:txBody>
      </p:sp>
      <p:sp>
        <p:nvSpPr>
          <p:cNvPr id="19" name="Shape 17"/>
          <p:cNvSpPr/>
          <p:nvPr/>
        </p:nvSpPr>
        <p:spPr>
          <a:xfrm>
            <a:off x="731520" y="3118104"/>
            <a:ext cx="10698480" cy="384048"/>
          </a:xfrm>
          <a:prstGeom prst="rect">
            <a:avLst/>
          </a:prstGeom>
          <a:solidFill>
            <a:srgbClr val="14263F"/>
          </a:solidFill>
          <a:ln w="3810">
            <a:solidFill>
              <a:srgbClr val="2A3F5A"/>
            </a:solidFill>
            <a:prstDash val="solid"/>
          </a:ln>
        </p:spPr>
      </p:sp>
      <p:sp>
        <p:nvSpPr>
          <p:cNvPr id="20" name="Text 18"/>
          <p:cNvSpPr/>
          <p:nvPr/>
        </p:nvSpPr>
        <p:spPr>
          <a:xfrm>
            <a:off x="822960" y="3118104"/>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Infra tier</a:t>
            </a:r>
            <a:endParaRPr lang="en-US" sz="1200" dirty="0"/>
          </a:p>
        </p:txBody>
      </p:sp>
      <p:sp>
        <p:nvSpPr>
          <p:cNvPr id="21" name="Text 19"/>
          <p:cNvSpPr/>
          <p:nvPr/>
        </p:nvSpPr>
        <p:spPr>
          <a:xfrm>
            <a:off x="3291840" y="3118104"/>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 → Standard</a:t>
            </a:r>
            <a:endParaRPr lang="en-US" sz="1200" dirty="0"/>
          </a:p>
        </p:txBody>
      </p:sp>
      <p:sp>
        <p:nvSpPr>
          <p:cNvPr id="22" name="Text 20"/>
          <p:cNvSpPr/>
          <p:nvPr/>
        </p:nvSpPr>
        <p:spPr>
          <a:xfrm>
            <a:off x="6035040" y="3118104"/>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23" name="Text 21"/>
          <p:cNvSpPr/>
          <p:nvPr/>
        </p:nvSpPr>
        <p:spPr>
          <a:xfrm>
            <a:off x="8778240" y="3118104"/>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Pro</a:t>
            </a:r>
            <a:endParaRPr lang="en-US" sz="1200" dirty="0"/>
          </a:p>
        </p:txBody>
      </p:sp>
      <p:sp>
        <p:nvSpPr>
          <p:cNvPr id="24" name="Shape 22"/>
          <p:cNvSpPr/>
          <p:nvPr/>
        </p:nvSpPr>
        <p:spPr>
          <a:xfrm>
            <a:off x="731520" y="3502152"/>
            <a:ext cx="10698480" cy="384048"/>
          </a:xfrm>
          <a:prstGeom prst="rect">
            <a:avLst/>
          </a:prstGeom>
          <a:solidFill>
            <a:srgbClr val="0B1520"/>
          </a:solidFill>
          <a:ln w="3810">
            <a:solidFill>
              <a:srgbClr val="2A3F5A"/>
            </a:solidFill>
            <a:prstDash val="solid"/>
          </a:ln>
        </p:spPr>
      </p:sp>
      <p:sp>
        <p:nvSpPr>
          <p:cNvPr id="25" name="Text 23"/>
          <p:cNvSpPr/>
          <p:nvPr/>
        </p:nvSpPr>
        <p:spPr>
          <a:xfrm>
            <a:off x="822960" y="3502152"/>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Infra / month</a:t>
            </a:r>
            <a:endParaRPr lang="en-US" sz="1200" dirty="0"/>
          </a:p>
        </p:txBody>
      </p:sp>
      <p:sp>
        <p:nvSpPr>
          <p:cNvPr id="26" name="Text 24"/>
          <p:cNvSpPr/>
          <p:nvPr/>
        </p:nvSpPr>
        <p:spPr>
          <a:xfrm>
            <a:off x="3291840" y="350215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₹2,500</a:t>
            </a:r>
            <a:endParaRPr lang="en-US" sz="1200" dirty="0"/>
          </a:p>
        </p:txBody>
      </p:sp>
      <p:sp>
        <p:nvSpPr>
          <p:cNvPr id="27" name="Text 25"/>
          <p:cNvSpPr/>
          <p:nvPr/>
        </p:nvSpPr>
        <p:spPr>
          <a:xfrm>
            <a:off x="6035040" y="350215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₹3,800</a:t>
            </a:r>
            <a:endParaRPr lang="en-US" sz="1200" dirty="0"/>
          </a:p>
        </p:txBody>
      </p:sp>
      <p:sp>
        <p:nvSpPr>
          <p:cNvPr id="28" name="Text 26"/>
          <p:cNvSpPr/>
          <p:nvPr/>
        </p:nvSpPr>
        <p:spPr>
          <a:xfrm>
            <a:off x="8778240" y="3502152"/>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₹8,900</a:t>
            </a:r>
            <a:endParaRPr lang="en-US" sz="1200" dirty="0"/>
          </a:p>
        </p:txBody>
      </p:sp>
      <p:sp>
        <p:nvSpPr>
          <p:cNvPr id="29" name="Shape 27"/>
          <p:cNvSpPr/>
          <p:nvPr/>
        </p:nvSpPr>
        <p:spPr>
          <a:xfrm>
            <a:off x="731520" y="3886200"/>
            <a:ext cx="10698480" cy="384048"/>
          </a:xfrm>
          <a:prstGeom prst="rect">
            <a:avLst/>
          </a:prstGeom>
          <a:solidFill>
            <a:srgbClr val="14263F"/>
          </a:solidFill>
          <a:ln w="3810">
            <a:solidFill>
              <a:srgbClr val="2A3F5A"/>
            </a:solidFill>
            <a:prstDash val="solid"/>
          </a:ln>
        </p:spPr>
      </p:sp>
      <p:sp>
        <p:nvSpPr>
          <p:cNvPr id="30" name="Text 28"/>
          <p:cNvSpPr/>
          <p:nvPr/>
        </p:nvSpPr>
        <p:spPr>
          <a:xfrm>
            <a:off x="822960" y="3886200"/>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Messaging / month</a:t>
            </a:r>
            <a:endParaRPr lang="en-US" sz="1200" dirty="0"/>
          </a:p>
        </p:txBody>
      </p:sp>
      <p:sp>
        <p:nvSpPr>
          <p:cNvPr id="31" name="Text 29"/>
          <p:cNvSpPr/>
          <p:nvPr/>
        </p:nvSpPr>
        <p:spPr>
          <a:xfrm>
            <a:off x="3291840" y="388620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₹1,000</a:t>
            </a:r>
            <a:endParaRPr lang="en-US" sz="1200" dirty="0"/>
          </a:p>
        </p:txBody>
      </p:sp>
      <p:sp>
        <p:nvSpPr>
          <p:cNvPr id="32" name="Text 30"/>
          <p:cNvSpPr/>
          <p:nvPr/>
        </p:nvSpPr>
        <p:spPr>
          <a:xfrm>
            <a:off x="6035040" y="388620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₹3,700</a:t>
            </a:r>
            <a:endParaRPr lang="en-US" sz="1200" dirty="0"/>
          </a:p>
        </p:txBody>
      </p:sp>
      <p:sp>
        <p:nvSpPr>
          <p:cNvPr id="33" name="Text 31"/>
          <p:cNvSpPr/>
          <p:nvPr/>
        </p:nvSpPr>
        <p:spPr>
          <a:xfrm>
            <a:off x="8778240" y="3886200"/>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₹5,700</a:t>
            </a:r>
            <a:endParaRPr lang="en-US" sz="1200" dirty="0"/>
          </a:p>
        </p:txBody>
      </p:sp>
      <p:sp>
        <p:nvSpPr>
          <p:cNvPr id="34" name="Shape 32"/>
          <p:cNvSpPr/>
          <p:nvPr/>
        </p:nvSpPr>
        <p:spPr>
          <a:xfrm>
            <a:off x="731520" y="4270248"/>
            <a:ext cx="10698480" cy="384048"/>
          </a:xfrm>
          <a:prstGeom prst="rect">
            <a:avLst/>
          </a:prstGeom>
          <a:solidFill>
            <a:srgbClr val="0B1520"/>
          </a:solidFill>
          <a:ln w="3810">
            <a:solidFill>
              <a:srgbClr val="2A3F5A"/>
            </a:solidFill>
            <a:prstDash val="solid"/>
          </a:ln>
        </p:spPr>
      </p:sp>
      <p:sp>
        <p:nvSpPr>
          <p:cNvPr id="35" name="Text 33"/>
          <p:cNvSpPr/>
          <p:nvPr/>
        </p:nvSpPr>
        <p:spPr>
          <a:xfrm>
            <a:off x="822960" y="4270248"/>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Total / month</a:t>
            </a:r>
            <a:endParaRPr lang="en-US" sz="1200" dirty="0"/>
          </a:p>
        </p:txBody>
      </p:sp>
      <p:sp>
        <p:nvSpPr>
          <p:cNvPr id="36" name="Text 34"/>
          <p:cNvSpPr/>
          <p:nvPr/>
        </p:nvSpPr>
        <p:spPr>
          <a:xfrm>
            <a:off x="3291840" y="4270248"/>
            <a:ext cx="2606040" cy="384048"/>
          </a:xfrm>
          <a:prstGeom prst="rect">
            <a:avLst/>
          </a:prstGeom>
          <a:noFill/>
          <a:ln/>
        </p:spPr>
        <p:txBody>
          <a:bodyPr wrap="square" lIns="0" tIns="0" rIns="0" bIns="0" rtlCol="0" anchor="ctr"/>
          <a:lstStyle/>
          <a:p>
            <a:pPr indent="0" marL="0">
              <a:buNone/>
            </a:pPr>
            <a:r>
              <a:rPr lang="en-US" sz="1200" b="1" dirty="0">
                <a:solidFill>
                  <a:srgbClr val="4A8FA8"/>
                </a:solidFill>
                <a:latin typeface="Calibri" pitchFamily="34" charset="0"/>
                <a:ea typeface="Calibri" pitchFamily="34" charset="-122"/>
                <a:cs typeface="Calibri" pitchFamily="34" charset="-120"/>
              </a:rPr>
              <a:t>₹3,500</a:t>
            </a:r>
            <a:endParaRPr lang="en-US" sz="1200" dirty="0"/>
          </a:p>
        </p:txBody>
      </p:sp>
      <p:sp>
        <p:nvSpPr>
          <p:cNvPr id="37" name="Text 35"/>
          <p:cNvSpPr/>
          <p:nvPr/>
        </p:nvSpPr>
        <p:spPr>
          <a:xfrm>
            <a:off x="6035040" y="4270248"/>
            <a:ext cx="2606040" cy="384048"/>
          </a:xfrm>
          <a:prstGeom prst="rect">
            <a:avLst/>
          </a:prstGeom>
          <a:noFill/>
          <a:ln/>
        </p:spPr>
        <p:txBody>
          <a:bodyPr wrap="square" lIns="0" tIns="0" rIns="0" bIns="0" rtlCol="0" anchor="ctr"/>
          <a:lstStyle/>
          <a:p>
            <a:pPr indent="0" marL="0">
              <a:buNone/>
            </a:pPr>
            <a:r>
              <a:rPr lang="en-US" sz="1200" b="1" dirty="0">
                <a:solidFill>
                  <a:srgbClr val="F0994A"/>
                </a:solidFill>
                <a:latin typeface="Calibri" pitchFamily="34" charset="0"/>
                <a:ea typeface="Calibri" pitchFamily="34" charset="-122"/>
                <a:cs typeface="Calibri" pitchFamily="34" charset="-120"/>
              </a:rPr>
              <a:t>₹7,500</a:t>
            </a:r>
            <a:endParaRPr lang="en-US" sz="1200" dirty="0"/>
          </a:p>
        </p:txBody>
      </p:sp>
      <p:sp>
        <p:nvSpPr>
          <p:cNvPr id="38" name="Text 36"/>
          <p:cNvSpPr/>
          <p:nvPr/>
        </p:nvSpPr>
        <p:spPr>
          <a:xfrm>
            <a:off x="8778240" y="4270248"/>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₹14,600</a:t>
            </a:r>
            <a:endParaRPr lang="en-US" sz="1200" dirty="0"/>
          </a:p>
        </p:txBody>
      </p:sp>
      <p:sp>
        <p:nvSpPr>
          <p:cNvPr id="39" name="Shape 37"/>
          <p:cNvSpPr/>
          <p:nvPr/>
        </p:nvSpPr>
        <p:spPr>
          <a:xfrm>
            <a:off x="731520" y="4654296"/>
            <a:ext cx="10698480" cy="384048"/>
          </a:xfrm>
          <a:prstGeom prst="rect">
            <a:avLst/>
          </a:prstGeom>
          <a:solidFill>
            <a:srgbClr val="14263F"/>
          </a:solidFill>
          <a:ln w="3810">
            <a:solidFill>
              <a:srgbClr val="2A3F5A"/>
            </a:solidFill>
            <a:prstDash val="solid"/>
          </a:ln>
        </p:spPr>
      </p:sp>
      <p:sp>
        <p:nvSpPr>
          <p:cNvPr id="40" name="Text 38"/>
          <p:cNvSpPr/>
          <p:nvPr/>
        </p:nvSpPr>
        <p:spPr>
          <a:xfrm>
            <a:off x="822960" y="4654296"/>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1-year total</a:t>
            </a:r>
            <a:endParaRPr lang="en-US" sz="1200" dirty="0"/>
          </a:p>
        </p:txBody>
      </p:sp>
      <p:sp>
        <p:nvSpPr>
          <p:cNvPr id="41" name="Text 39"/>
          <p:cNvSpPr/>
          <p:nvPr/>
        </p:nvSpPr>
        <p:spPr>
          <a:xfrm>
            <a:off x="3291840" y="465429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₹30,000</a:t>
            </a:r>
            <a:endParaRPr lang="en-US" sz="1200" dirty="0"/>
          </a:p>
        </p:txBody>
      </p:sp>
      <p:sp>
        <p:nvSpPr>
          <p:cNvPr id="42" name="Text 40"/>
          <p:cNvSpPr/>
          <p:nvPr/>
        </p:nvSpPr>
        <p:spPr>
          <a:xfrm>
            <a:off x="6035040" y="4654296"/>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₹90,000</a:t>
            </a:r>
            <a:endParaRPr lang="en-US" sz="1200" dirty="0"/>
          </a:p>
        </p:txBody>
      </p:sp>
      <p:sp>
        <p:nvSpPr>
          <p:cNvPr id="43" name="Text 41"/>
          <p:cNvSpPr/>
          <p:nvPr/>
        </p:nvSpPr>
        <p:spPr>
          <a:xfrm>
            <a:off x="8778240" y="4654296"/>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₹1,75,000</a:t>
            </a:r>
            <a:endParaRPr lang="en-US" sz="1200" dirty="0"/>
          </a:p>
        </p:txBody>
      </p:sp>
      <p:sp>
        <p:nvSpPr>
          <p:cNvPr id="44" name="Shape 42"/>
          <p:cNvSpPr/>
          <p:nvPr/>
        </p:nvSpPr>
        <p:spPr>
          <a:xfrm>
            <a:off x="731520" y="5038344"/>
            <a:ext cx="10698480" cy="384048"/>
          </a:xfrm>
          <a:prstGeom prst="rect">
            <a:avLst/>
          </a:prstGeom>
          <a:solidFill>
            <a:srgbClr val="0B1520"/>
          </a:solidFill>
          <a:ln w="3810">
            <a:solidFill>
              <a:srgbClr val="2A3F5A"/>
            </a:solidFill>
            <a:prstDash val="solid"/>
          </a:ln>
        </p:spPr>
      </p:sp>
      <p:sp>
        <p:nvSpPr>
          <p:cNvPr id="45" name="Text 43"/>
          <p:cNvSpPr/>
          <p:nvPr/>
        </p:nvSpPr>
        <p:spPr>
          <a:xfrm>
            <a:off x="822960" y="5038344"/>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2-year total</a:t>
            </a:r>
            <a:endParaRPr lang="en-US" sz="1200" dirty="0"/>
          </a:p>
        </p:txBody>
      </p:sp>
      <p:sp>
        <p:nvSpPr>
          <p:cNvPr id="46" name="Text 44"/>
          <p:cNvSpPr/>
          <p:nvPr/>
        </p:nvSpPr>
        <p:spPr>
          <a:xfrm>
            <a:off x="3291840" y="5038344"/>
            <a:ext cx="260604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₹85,000</a:t>
            </a:r>
            <a:endParaRPr lang="en-US" sz="1200" dirty="0"/>
          </a:p>
        </p:txBody>
      </p:sp>
      <p:sp>
        <p:nvSpPr>
          <p:cNvPr id="47" name="Text 45"/>
          <p:cNvSpPr/>
          <p:nvPr/>
        </p:nvSpPr>
        <p:spPr>
          <a:xfrm>
            <a:off x="6035040" y="5038344"/>
            <a:ext cx="260604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₹1,80,000</a:t>
            </a:r>
            <a:endParaRPr lang="en-US" sz="1200" dirty="0"/>
          </a:p>
        </p:txBody>
      </p:sp>
      <p:sp>
        <p:nvSpPr>
          <p:cNvPr id="48" name="Text 46"/>
          <p:cNvSpPr/>
          <p:nvPr/>
        </p:nvSpPr>
        <p:spPr>
          <a:xfrm>
            <a:off x="8778240" y="5038344"/>
            <a:ext cx="260604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₹3,50,000</a:t>
            </a:r>
            <a:endParaRPr lang="en-US" sz="1200" dirty="0"/>
          </a:p>
        </p:txBody>
      </p:sp>
      <p:sp>
        <p:nvSpPr>
          <p:cNvPr id="49" name="Shape 47"/>
          <p:cNvSpPr/>
          <p:nvPr/>
        </p:nvSpPr>
        <p:spPr>
          <a:xfrm>
            <a:off x="731520" y="5422392"/>
            <a:ext cx="10698480" cy="384048"/>
          </a:xfrm>
          <a:prstGeom prst="rect">
            <a:avLst/>
          </a:prstGeom>
          <a:solidFill>
            <a:srgbClr val="14263F"/>
          </a:solidFill>
          <a:ln w="3810">
            <a:solidFill>
              <a:srgbClr val="2A3F5A"/>
            </a:solidFill>
            <a:prstDash val="solid"/>
          </a:ln>
        </p:spPr>
      </p:sp>
      <p:sp>
        <p:nvSpPr>
          <p:cNvPr id="50" name="Text 48"/>
          <p:cNvSpPr/>
          <p:nvPr/>
        </p:nvSpPr>
        <p:spPr>
          <a:xfrm>
            <a:off x="822960" y="5422392"/>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Cost per order</a:t>
            </a:r>
            <a:endParaRPr lang="en-US" sz="1200" dirty="0"/>
          </a:p>
        </p:txBody>
      </p:sp>
      <p:sp>
        <p:nvSpPr>
          <p:cNvPr id="51" name="Text 49"/>
          <p:cNvSpPr/>
          <p:nvPr/>
        </p:nvSpPr>
        <p:spPr>
          <a:xfrm>
            <a:off x="3291840" y="542239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~₹1.75</a:t>
            </a:r>
            <a:endParaRPr lang="en-US" sz="1200" dirty="0"/>
          </a:p>
        </p:txBody>
      </p:sp>
      <p:sp>
        <p:nvSpPr>
          <p:cNvPr id="52" name="Text 50"/>
          <p:cNvSpPr/>
          <p:nvPr/>
        </p:nvSpPr>
        <p:spPr>
          <a:xfrm>
            <a:off x="6035040" y="5422392"/>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~₹1.90</a:t>
            </a:r>
            <a:endParaRPr lang="en-US" sz="1200" dirty="0"/>
          </a:p>
        </p:txBody>
      </p:sp>
      <p:sp>
        <p:nvSpPr>
          <p:cNvPr id="53" name="Text 51"/>
          <p:cNvSpPr/>
          <p:nvPr/>
        </p:nvSpPr>
        <p:spPr>
          <a:xfrm>
            <a:off x="8778240" y="5422392"/>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~₹1.80</a:t>
            </a:r>
            <a:endParaRPr lang="en-US" sz="1200" dirty="0"/>
          </a:p>
        </p:txBody>
      </p:sp>
      <p:sp>
        <p:nvSpPr>
          <p:cNvPr id="54" name="Shape 52"/>
          <p:cNvSpPr/>
          <p:nvPr/>
        </p:nvSpPr>
        <p:spPr>
          <a:xfrm>
            <a:off x="731520" y="5806440"/>
            <a:ext cx="10698480" cy="384048"/>
          </a:xfrm>
          <a:prstGeom prst="rect">
            <a:avLst/>
          </a:prstGeom>
          <a:solidFill>
            <a:srgbClr val="0B1520"/>
          </a:solidFill>
          <a:ln w="3810">
            <a:solidFill>
              <a:srgbClr val="2A3F5A"/>
            </a:solidFill>
            <a:prstDash val="solid"/>
          </a:ln>
        </p:spPr>
      </p:sp>
      <p:sp>
        <p:nvSpPr>
          <p:cNvPr id="55" name="Text 53"/>
          <p:cNvSpPr/>
          <p:nvPr/>
        </p:nvSpPr>
        <p:spPr>
          <a:xfrm>
            <a:off x="822960" y="5806440"/>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Revenue potential</a:t>
            </a:r>
            <a:endParaRPr lang="en-US" sz="1200" dirty="0"/>
          </a:p>
        </p:txBody>
      </p:sp>
      <p:sp>
        <p:nvSpPr>
          <p:cNvPr id="56" name="Text 54"/>
          <p:cNvSpPr/>
          <p:nvPr/>
        </p:nvSpPr>
        <p:spPr>
          <a:xfrm>
            <a:off x="3291840" y="580644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 L / month</a:t>
            </a:r>
            <a:endParaRPr lang="en-US" sz="1200" dirty="0"/>
          </a:p>
        </p:txBody>
      </p:sp>
      <p:sp>
        <p:nvSpPr>
          <p:cNvPr id="57" name="Text 55"/>
          <p:cNvSpPr/>
          <p:nvPr/>
        </p:nvSpPr>
        <p:spPr>
          <a:xfrm>
            <a:off x="6035040" y="5806440"/>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₹16 L / month</a:t>
            </a:r>
            <a:endParaRPr lang="en-US" sz="1200" dirty="0"/>
          </a:p>
        </p:txBody>
      </p:sp>
      <p:sp>
        <p:nvSpPr>
          <p:cNvPr id="58" name="Text 56"/>
          <p:cNvSpPr/>
          <p:nvPr/>
        </p:nvSpPr>
        <p:spPr>
          <a:xfrm>
            <a:off x="8778240" y="5806440"/>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₹32 L / month</a:t>
            </a:r>
            <a:endParaRPr lang="en-US" sz="1200" dirty="0"/>
          </a:p>
        </p:txBody>
      </p:sp>
      <p:sp>
        <p:nvSpPr>
          <p:cNvPr id="59" name="Shape 57"/>
          <p:cNvSpPr/>
          <p:nvPr/>
        </p:nvSpPr>
        <p:spPr>
          <a:xfrm>
            <a:off x="731520" y="6190488"/>
            <a:ext cx="10698480" cy="384048"/>
          </a:xfrm>
          <a:prstGeom prst="rect">
            <a:avLst/>
          </a:prstGeom>
          <a:solidFill>
            <a:srgbClr val="14263F"/>
          </a:solidFill>
          <a:ln w="3810">
            <a:solidFill>
              <a:srgbClr val="2A3F5A"/>
            </a:solidFill>
            <a:prstDash val="solid"/>
          </a:ln>
        </p:spPr>
      </p:sp>
      <p:sp>
        <p:nvSpPr>
          <p:cNvPr id="60" name="Text 58"/>
          <p:cNvSpPr/>
          <p:nvPr/>
        </p:nvSpPr>
        <p:spPr>
          <a:xfrm>
            <a:off x="822960" y="6190488"/>
            <a:ext cx="2331720" cy="384048"/>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Infra as % of revenue</a:t>
            </a:r>
            <a:endParaRPr lang="en-US" sz="1200" dirty="0"/>
          </a:p>
        </p:txBody>
      </p:sp>
      <p:sp>
        <p:nvSpPr>
          <p:cNvPr id="61" name="Text 59"/>
          <p:cNvSpPr/>
          <p:nvPr/>
        </p:nvSpPr>
        <p:spPr>
          <a:xfrm>
            <a:off x="3291840" y="6190488"/>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~0.4 %</a:t>
            </a:r>
            <a:endParaRPr lang="en-US" sz="1200" dirty="0"/>
          </a:p>
        </p:txBody>
      </p:sp>
      <p:sp>
        <p:nvSpPr>
          <p:cNvPr id="62" name="Text 60"/>
          <p:cNvSpPr/>
          <p:nvPr/>
        </p:nvSpPr>
        <p:spPr>
          <a:xfrm>
            <a:off x="6035040" y="6190488"/>
            <a:ext cx="2606040" cy="384048"/>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~0.5 %</a:t>
            </a:r>
            <a:endParaRPr lang="en-US" sz="1200" dirty="0"/>
          </a:p>
        </p:txBody>
      </p:sp>
      <p:sp>
        <p:nvSpPr>
          <p:cNvPr id="63" name="Text 61"/>
          <p:cNvSpPr/>
          <p:nvPr/>
        </p:nvSpPr>
        <p:spPr>
          <a:xfrm>
            <a:off x="8778240" y="6190488"/>
            <a:ext cx="2606040" cy="384048"/>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~0.5 %</a:t>
            </a:r>
            <a:endParaRPr lang="en-US" sz="1200" dirty="0"/>
          </a:p>
        </p:txBody>
      </p:sp>
      <p:sp>
        <p:nvSpPr>
          <p:cNvPr id="64" name="Text 62"/>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65" name="Text 63"/>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11 / 16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Unit economics</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3800" b="1" dirty="0">
                <a:solidFill>
                  <a:srgbClr val="F5EDD8"/>
                </a:solidFill>
                <a:latin typeface="Cambria" pitchFamily="34" charset="0"/>
                <a:ea typeface="Cambria" pitchFamily="34" charset="-122"/>
                <a:cs typeface="Cambria" pitchFamily="34" charset="-120"/>
              </a:rPr>
              <a:t>Every order costs you </a:t>
            </a:r>
            <a:pPr indent="0" marL="0">
              <a:buNone/>
            </a:pPr>
            <a:r>
              <a:rPr lang="en-US" sz="6000" b="1" i="1" dirty="0">
                <a:solidFill>
                  <a:srgbClr val="F0994A"/>
                </a:solidFill>
                <a:latin typeface="Cambria" pitchFamily="34" charset="0"/>
                <a:ea typeface="Cambria" pitchFamily="34" charset="-122"/>
                <a:cs typeface="Cambria" pitchFamily="34" charset="-120"/>
              </a:rPr>
              <a:t>₹2</a:t>
            </a:r>
            <a:pPr indent="0" marL="0">
              <a:buNone/>
            </a:pPr>
            <a:r>
              <a:rPr lang="en-US" sz="3800" b="1" dirty="0">
                <a:solidFill>
                  <a:srgbClr val="F5EDD8"/>
                </a:solidFill>
                <a:latin typeface="Cambria" pitchFamily="34" charset="0"/>
                <a:ea typeface="Cambria" pitchFamily="34" charset="-122"/>
                <a:cs typeface="Cambria" pitchFamily="34" charset="-120"/>
              </a:rPr>
              <a:t>.</a:t>
            </a:r>
            <a:endParaRPr lang="en-US" sz="3800" dirty="0"/>
          </a:p>
        </p:txBody>
      </p:sp>
      <p:sp>
        <p:nvSpPr>
          <p:cNvPr id="4" name="Text 2"/>
          <p:cNvSpPr/>
          <p:nvPr/>
        </p:nvSpPr>
        <p:spPr>
          <a:xfrm>
            <a:off x="731520" y="2057400"/>
            <a:ext cx="10515600" cy="822960"/>
          </a:xfrm>
          <a:prstGeom prst="rect">
            <a:avLst/>
          </a:prstGeom>
          <a:noFill/>
          <a:ln/>
        </p:spPr>
        <p:txBody>
          <a:bodyPr wrap="square" lIns="0" tIns="0" rIns="0" bIns="0" rtlCol="0" anchor="ctr"/>
          <a:lstStyle/>
          <a:p>
            <a:pPr indent="0" marL="0">
              <a:buNone/>
            </a:pPr>
            <a:r>
              <a:rPr lang="en-US" sz="1500" dirty="0">
                <a:solidFill>
                  <a:srgbClr val="CFC5AC"/>
                </a:solidFill>
                <a:latin typeface="Cambria" pitchFamily="34" charset="0"/>
                <a:ea typeface="Cambria" pitchFamily="34" charset="-122"/>
                <a:cs typeface="Cambria" pitchFamily="34" charset="-120"/>
              </a:rPr>
              <a:t>The remarkable thing about a well-architected SaaS stack: cost per order stays flat as you grow. You pay slightly more absolute rupees, but each customer's marginal cost is constant.</a:t>
            </a:r>
            <a:endParaRPr lang="en-US" sz="1500" dirty="0"/>
          </a:p>
        </p:txBody>
      </p:sp>
      <p:sp>
        <p:nvSpPr>
          <p:cNvPr id="5" name="Shape 3"/>
          <p:cNvSpPr/>
          <p:nvPr/>
        </p:nvSpPr>
        <p:spPr>
          <a:xfrm>
            <a:off x="1828800" y="3657600"/>
            <a:ext cx="2011680" cy="2286000"/>
          </a:xfrm>
          <a:prstGeom prst="roundRect">
            <a:avLst>
              <a:gd name="adj" fmla="val 4545"/>
            </a:avLst>
          </a:prstGeom>
          <a:solidFill>
            <a:srgbClr val="4A8FA8"/>
          </a:solidFill>
          <a:ln w="12700">
            <a:solidFill>
              <a:srgbClr val="4A8FA8"/>
            </a:solidFill>
            <a:prstDash val="solid"/>
          </a:ln>
        </p:spPr>
      </p:sp>
      <p:sp>
        <p:nvSpPr>
          <p:cNvPr id="6" name="Text 4"/>
          <p:cNvSpPr/>
          <p:nvPr/>
        </p:nvSpPr>
        <p:spPr>
          <a:xfrm>
            <a:off x="1371600" y="2834640"/>
            <a:ext cx="2926080" cy="640080"/>
          </a:xfrm>
          <a:prstGeom prst="rect">
            <a:avLst/>
          </a:prstGeom>
          <a:noFill/>
          <a:ln/>
        </p:spPr>
        <p:txBody>
          <a:bodyPr wrap="square" lIns="0" tIns="0" rIns="0" bIns="0" rtlCol="0" anchor="ctr"/>
          <a:lstStyle/>
          <a:p>
            <a:pPr algn="ctr" indent="0" marL="0">
              <a:buNone/>
            </a:pPr>
            <a:r>
              <a:rPr lang="en-US" sz="3400" b="1" dirty="0">
                <a:solidFill>
                  <a:srgbClr val="4A8FA8"/>
                </a:solidFill>
                <a:latin typeface="Cambria" pitchFamily="34" charset="0"/>
                <a:ea typeface="Cambria" pitchFamily="34" charset="-122"/>
                <a:cs typeface="Cambria" pitchFamily="34" charset="-120"/>
              </a:rPr>
              <a:t>₹1.75</a:t>
            </a:r>
            <a:endParaRPr lang="en-US" sz="3400" dirty="0"/>
          </a:p>
        </p:txBody>
      </p:sp>
      <p:sp>
        <p:nvSpPr>
          <p:cNvPr id="7" name="Text 5"/>
          <p:cNvSpPr/>
          <p:nvPr/>
        </p:nvSpPr>
        <p:spPr>
          <a:xfrm>
            <a:off x="1371600" y="6080760"/>
            <a:ext cx="2926080" cy="320040"/>
          </a:xfrm>
          <a:prstGeom prst="rect">
            <a:avLst/>
          </a:prstGeom>
          <a:noFill/>
          <a:ln/>
        </p:spPr>
        <p:txBody>
          <a:bodyPr wrap="square" lIns="0" tIns="0" rIns="0" bIns="0" rtlCol="0" anchor="ctr"/>
          <a:lstStyle/>
          <a:p>
            <a:pPr algn="ctr" indent="0" marL="0">
              <a:buNone/>
            </a:pPr>
            <a:r>
              <a:rPr lang="en-US" sz="1200" b="1" spc="300" kern="0" dirty="0">
                <a:solidFill>
                  <a:srgbClr val="CFC5AC"/>
                </a:solidFill>
                <a:latin typeface="Calibri" pitchFamily="34" charset="0"/>
                <a:ea typeface="Calibri" pitchFamily="34" charset="-122"/>
                <a:cs typeface="Calibri" pitchFamily="34" charset="-120"/>
              </a:rPr>
              <a:t>10 – 50 CCU</a:t>
            </a:r>
            <a:endParaRPr lang="en-US" sz="1200" dirty="0"/>
          </a:p>
        </p:txBody>
      </p:sp>
      <p:sp>
        <p:nvSpPr>
          <p:cNvPr id="8" name="Shape 6"/>
          <p:cNvSpPr/>
          <p:nvPr/>
        </p:nvSpPr>
        <p:spPr>
          <a:xfrm>
            <a:off x="4754880" y="3657600"/>
            <a:ext cx="2011680" cy="2286000"/>
          </a:xfrm>
          <a:prstGeom prst="roundRect">
            <a:avLst>
              <a:gd name="adj" fmla="val 4545"/>
            </a:avLst>
          </a:prstGeom>
          <a:solidFill>
            <a:srgbClr val="F0994A"/>
          </a:solidFill>
          <a:ln w="12700">
            <a:solidFill>
              <a:srgbClr val="F0994A"/>
            </a:solidFill>
            <a:prstDash val="solid"/>
          </a:ln>
        </p:spPr>
      </p:sp>
      <p:sp>
        <p:nvSpPr>
          <p:cNvPr id="9" name="Text 7"/>
          <p:cNvSpPr/>
          <p:nvPr/>
        </p:nvSpPr>
        <p:spPr>
          <a:xfrm>
            <a:off x="4297680" y="2834640"/>
            <a:ext cx="2926080" cy="640080"/>
          </a:xfrm>
          <a:prstGeom prst="rect">
            <a:avLst/>
          </a:prstGeom>
          <a:noFill/>
          <a:ln/>
        </p:spPr>
        <p:txBody>
          <a:bodyPr wrap="square" lIns="0" tIns="0" rIns="0" bIns="0" rtlCol="0" anchor="ctr"/>
          <a:lstStyle/>
          <a:p>
            <a:pPr algn="ctr" indent="0" marL="0">
              <a:buNone/>
            </a:pPr>
            <a:r>
              <a:rPr lang="en-US" sz="3400" b="1" dirty="0">
                <a:solidFill>
                  <a:srgbClr val="F0994A"/>
                </a:solidFill>
                <a:latin typeface="Cambria" pitchFamily="34" charset="0"/>
                <a:ea typeface="Cambria" pitchFamily="34" charset="-122"/>
                <a:cs typeface="Cambria" pitchFamily="34" charset="-120"/>
              </a:rPr>
              <a:t>₹1.90</a:t>
            </a:r>
            <a:endParaRPr lang="en-US" sz="3400" dirty="0"/>
          </a:p>
        </p:txBody>
      </p:sp>
      <p:sp>
        <p:nvSpPr>
          <p:cNvPr id="10" name="Text 8"/>
          <p:cNvSpPr/>
          <p:nvPr/>
        </p:nvSpPr>
        <p:spPr>
          <a:xfrm>
            <a:off x="4297680" y="6080760"/>
            <a:ext cx="2926080" cy="320040"/>
          </a:xfrm>
          <a:prstGeom prst="rect">
            <a:avLst/>
          </a:prstGeom>
          <a:noFill/>
          <a:ln/>
        </p:spPr>
        <p:txBody>
          <a:bodyPr wrap="square" lIns="0" tIns="0" rIns="0" bIns="0" rtlCol="0" anchor="ctr"/>
          <a:lstStyle/>
          <a:p>
            <a:pPr algn="ctr" indent="0" marL="0">
              <a:buNone/>
            </a:pPr>
            <a:r>
              <a:rPr lang="en-US" sz="1200" b="1" spc="300" kern="0" dirty="0">
                <a:solidFill>
                  <a:srgbClr val="CFC5AC"/>
                </a:solidFill>
                <a:latin typeface="Calibri" pitchFamily="34" charset="0"/>
                <a:ea typeface="Calibri" pitchFamily="34" charset="-122"/>
                <a:cs typeface="Calibri" pitchFamily="34" charset="-120"/>
              </a:rPr>
              <a:t>50 – 100 CCU</a:t>
            </a:r>
            <a:endParaRPr lang="en-US" sz="1200" dirty="0"/>
          </a:p>
        </p:txBody>
      </p:sp>
      <p:sp>
        <p:nvSpPr>
          <p:cNvPr id="11" name="Shape 9"/>
          <p:cNvSpPr/>
          <p:nvPr/>
        </p:nvSpPr>
        <p:spPr>
          <a:xfrm>
            <a:off x="7680960" y="3657600"/>
            <a:ext cx="2011680" cy="2286000"/>
          </a:xfrm>
          <a:prstGeom prst="roundRect">
            <a:avLst>
              <a:gd name="adj" fmla="val 4545"/>
            </a:avLst>
          </a:prstGeom>
          <a:solidFill>
            <a:srgbClr val="E9C36B"/>
          </a:solidFill>
          <a:ln w="12700">
            <a:solidFill>
              <a:srgbClr val="E9C36B"/>
            </a:solidFill>
            <a:prstDash val="solid"/>
          </a:ln>
        </p:spPr>
      </p:sp>
      <p:sp>
        <p:nvSpPr>
          <p:cNvPr id="12" name="Text 10"/>
          <p:cNvSpPr/>
          <p:nvPr/>
        </p:nvSpPr>
        <p:spPr>
          <a:xfrm>
            <a:off x="7223760" y="2834640"/>
            <a:ext cx="2926080" cy="640080"/>
          </a:xfrm>
          <a:prstGeom prst="rect">
            <a:avLst/>
          </a:prstGeom>
          <a:noFill/>
          <a:ln/>
        </p:spPr>
        <p:txBody>
          <a:bodyPr wrap="square" lIns="0" tIns="0" rIns="0" bIns="0" rtlCol="0" anchor="ctr"/>
          <a:lstStyle/>
          <a:p>
            <a:pPr algn="ctr" indent="0" marL="0">
              <a:buNone/>
            </a:pPr>
            <a:r>
              <a:rPr lang="en-US" sz="3400" b="1" dirty="0">
                <a:solidFill>
                  <a:srgbClr val="E9C36B"/>
                </a:solidFill>
                <a:latin typeface="Cambria" pitchFamily="34" charset="0"/>
                <a:ea typeface="Cambria" pitchFamily="34" charset="-122"/>
                <a:cs typeface="Cambria" pitchFamily="34" charset="-120"/>
              </a:rPr>
              <a:t>₹1.80</a:t>
            </a:r>
            <a:endParaRPr lang="en-US" sz="3400" dirty="0"/>
          </a:p>
        </p:txBody>
      </p:sp>
      <p:sp>
        <p:nvSpPr>
          <p:cNvPr id="13" name="Text 11"/>
          <p:cNvSpPr/>
          <p:nvPr/>
        </p:nvSpPr>
        <p:spPr>
          <a:xfrm>
            <a:off x="7223760" y="6080760"/>
            <a:ext cx="2926080" cy="320040"/>
          </a:xfrm>
          <a:prstGeom prst="rect">
            <a:avLst/>
          </a:prstGeom>
          <a:noFill/>
          <a:ln/>
        </p:spPr>
        <p:txBody>
          <a:bodyPr wrap="square" lIns="0" tIns="0" rIns="0" bIns="0" rtlCol="0" anchor="ctr"/>
          <a:lstStyle/>
          <a:p>
            <a:pPr algn="ctr" indent="0" marL="0">
              <a:buNone/>
            </a:pPr>
            <a:r>
              <a:rPr lang="en-US" sz="1200" b="1" spc="300" kern="0" dirty="0">
                <a:solidFill>
                  <a:srgbClr val="CFC5AC"/>
                </a:solidFill>
                <a:latin typeface="Calibri" pitchFamily="34" charset="0"/>
                <a:ea typeface="Calibri" pitchFamily="34" charset="-122"/>
                <a:cs typeface="Calibri" pitchFamily="34" charset="-120"/>
              </a:rPr>
              <a:t>100 – 200 CCU</a:t>
            </a:r>
            <a:endParaRPr lang="en-US" sz="1200" dirty="0"/>
          </a:p>
        </p:txBody>
      </p:sp>
      <p:sp>
        <p:nvSpPr>
          <p:cNvPr id="14" name="Shape 12"/>
          <p:cNvSpPr/>
          <p:nvPr/>
        </p:nvSpPr>
        <p:spPr>
          <a:xfrm>
            <a:off x="731520" y="6035040"/>
            <a:ext cx="10698480" cy="502920"/>
          </a:xfrm>
          <a:prstGeom prst="roundRect">
            <a:avLst>
              <a:gd name="adj" fmla="val 18182"/>
            </a:avLst>
          </a:prstGeom>
          <a:solidFill>
            <a:srgbClr val="1A2E48"/>
          </a:solidFill>
          <a:ln w="6350">
            <a:solidFill>
              <a:srgbClr val="2A3F5A"/>
            </a:solidFill>
            <a:prstDash val="solid"/>
          </a:ln>
        </p:spPr>
      </p:sp>
      <p:sp>
        <p:nvSpPr>
          <p:cNvPr id="15" name="Text 13"/>
          <p:cNvSpPr/>
          <p:nvPr/>
        </p:nvSpPr>
        <p:spPr>
          <a:xfrm>
            <a:off x="960120" y="6080760"/>
            <a:ext cx="10424160" cy="457200"/>
          </a:xfrm>
          <a:prstGeom prst="rect">
            <a:avLst/>
          </a:prstGeom>
          <a:noFill/>
          <a:ln/>
        </p:spPr>
        <p:txBody>
          <a:bodyPr wrap="square" lIns="0" tIns="0" rIns="0" bIns="0" rtlCol="0" anchor="ctr"/>
          <a:lstStyle/>
          <a:p>
            <a:pPr indent="0" marL="0">
              <a:buNone/>
            </a:pPr>
            <a:r>
              <a:rPr lang="en-US" sz="1300" dirty="0">
                <a:solidFill>
                  <a:srgbClr val="CFC5AC"/>
                </a:solidFill>
                <a:latin typeface="Calibri" pitchFamily="34" charset="0"/>
                <a:ea typeface="Calibri" pitchFamily="34" charset="-122"/>
                <a:cs typeface="Calibri" pitchFamily="34" charset="-120"/>
              </a:rPr>
              <a:t>Your average order value is ~₹400. </a:t>
            </a:r>
            <a:pPr indent="0" marL="0">
              <a:buNone/>
            </a:pPr>
            <a:r>
              <a:rPr lang="en-US" sz="1300" b="1" i="1" dirty="0">
                <a:solidFill>
                  <a:srgbClr val="F0994A"/>
                </a:solidFill>
                <a:latin typeface="Cambria" pitchFamily="34" charset="0"/>
                <a:ea typeface="Cambria" pitchFamily="34" charset="-122"/>
                <a:cs typeface="Cambria" pitchFamily="34" charset="-120"/>
              </a:rPr>
              <a:t>Digital infra takes 0.4–0.5 % of every rupee earned.</a:t>
            </a:r>
            <a:endParaRPr lang="en-US" sz="1300" dirty="0"/>
          </a:p>
        </p:txBody>
      </p:sp>
      <p:sp>
        <p:nvSpPr>
          <p:cNvPr id="16" name="Text 14"/>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17" name="Text 15"/>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12 / 16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The bigger picture</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The costs </a:t>
            </a:r>
            <a:pPr indent="0" marL="0">
              <a:buNone/>
            </a:pPr>
            <a:r>
              <a:rPr lang="en-US" sz="4000" b="1" i="1" dirty="0">
                <a:solidFill>
                  <a:srgbClr val="E28080"/>
                </a:solidFill>
                <a:latin typeface="Cambria" pitchFamily="34" charset="0"/>
                <a:ea typeface="Cambria" pitchFamily="34" charset="-122"/>
                <a:cs typeface="Cambria" pitchFamily="34" charset="-120"/>
              </a:rPr>
              <a:t>not on this list.</a:t>
            </a:r>
            <a:endParaRPr lang="en-US" sz="4000" dirty="0"/>
          </a:p>
        </p:txBody>
      </p:sp>
      <p:sp>
        <p:nvSpPr>
          <p:cNvPr id="4" name="Text 2"/>
          <p:cNvSpPr/>
          <p:nvPr/>
        </p:nvSpPr>
        <p:spPr>
          <a:xfrm>
            <a:off x="731520" y="1920240"/>
            <a:ext cx="10515600" cy="777240"/>
          </a:xfrm>
          <a:prstGeom prst="rect">
            <a:avLst/>
          </a:prstGeom>
          <a:noFill/>
          <a:ln/>
        </p:spPr>
        <p:txBody>
          <a:bodyPr wrap="square" lIns="0" tIns="0" rIns="0" bIns="0" rtlCol="0" anchor="ctr"/>
          <a:lstStyle/>
          <a:p>
            <a:pPr indent="0" marL="0">
              <a:buNone/>
            </a:pPr>
            <a:r>
              <a:rPr lang="en-US" sz="1500" dirty="0">
                <a:solidFill>
                  <a:srgbClr val="CFC5AC"/>
                </a:solidFill>
                <a:latin typeface="Cambria" pitchFamily="34" charset="0"/>
                <a:ea typeface="Cambria" pitchFamily="34" charset="-122"/>
                <a:cs typeface="Cambria" pitchFamily="34" charset="-120"/>
              </a:rPr>
              <a:t>The numbers so far cover digital infrastructure only — because that's what the site itself needs to run. These are the operating costs you'll actually feel more.</a:t>
            </a:r>
            <a:endParaRPr lang="en-US" sz="1500" dirty="0"/>
          </a:p>
        </p:txBody>
      </p:sp>
      <p:sp>
        <p:nvSpPr>
          <p:cNvPr id="5" name="Shape 3"/>
          <p:cNvSpPr/>
          <p:nvPr/>
        </p:nvSpPr>
        <p:spPr>
          <a:xfrm>
            <a:off x="731520" y="2880360"/>
            <a:ext cx="10698480" cy="384048"/>
          </a:xfrm>
          <a:prstGeom prst="rect">
            <a:avLst/>
          </a:prstGeom>
          <a:solidFill>
            <a:srgbClr val="1A2E48"/>
          </a:solidFill>
          <a:ln w="6350">
            <a:solidFill>
              <a:srgbClr val="2A3F5A"/>
            </a:solidFill>
            <a:prstDash val="solid"/>
          </a:ln>
        </p:spPr>
      </p:sp>
      <p:sp>
        <p:nvSpPr>
          <p:cNvPr id="6" name="Text 4"/>
          <p:cNvSpPr/>
          <p:nvPr/>
        </p:nvSpPr>
        <p:spPr>
          <a:xfrm>
            <a:off x="822960" y="2880360"/>
            <a:ext cx="35204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Operating cost</a:t>
            </a:r>
            <a:endParaRPr lang="en-US" sz="1100" dirty="0"/>
          </a:p>
        </p:txBody>
      </p:sp>
      <p:sp>
        <p:nvSpPr>
          <p:cNvPr id="7" name="Text 5"/>
          <p:cNvSpPr/>
          <p:nvPr/>
        </p:nvSpPr>
        <p:spPr>
          <a:xfrm>
            <a:off x="4480560" y="288036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At 10–50 CCU</a:t>
            </a:r>
            <a:endParaRPr lang="en-US" sz="1100" dirty="0"/>
          </a:p>
        </p:txBody>
      </p:sp>
      <p:sp>
        <p:nvSpPr>
          <p:cNvPr id="8" name="Text 6"/>
          <p:cNvSpPr/>
          <p:nvPr/>
        </p:nvSpPr>
        <p:spPr>
          <a:xfrm>
            <a:off x="6766560" y="288036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At 50–100 CCU</a:t>
            </a:r>
            <a:endParaRPr lang="en-US" sz="1100" dirty="0"/>
          </a:p>
        </p:txBody>
      </p:sp>
      <p:sp>
        <p:nvSpPr>
          <p:cNvPr id="9" name="Text 7"/>
          <p:cNvSpPr/>
          <p:nvPr/>
        </p:nvSpPr>
        <p:spPr>
          <a:xfrm>
            <a:off x="9052560" y="2880360"/>
            <a:ext cx="23317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At 100–200 CCU</a:t>
            </a:r>
            <a:endParaRPr lang="en-US" sz="1100" dirty="0"/>
          </a:p>
        </p:txBody>
      </p:sp>
      <p:sp>
        <p:nvSpPr>
          <p:cNvPr id="10" name="Shape 8"/>
          <p:cNvSpPr/>
          <p:nvPr/>
        </p:nvSpPr>
        <p:spPr>
          <a:xfrm>
            <a:off x="731520" y="3264408"/>
            <a:ext cx="10698480" cy="502920"/>
          </a:xfrm>
          <a:prstGeom prst="rect">
            <a:avLst/>
          </a:prstGeom>
          <a:solidFill>
            <a:srgbClr val="14263F"/>
          </a:solidFill>
          <a:ln w="3810">
            <a:solidFill>
              <a:srgbClr val="2A3F5A"/>
            </a:solidFill>
            <a:prstDash val="solid"/>
          </a:ln>
        </p:spPr>
      </p:sp>
      <p:sp>
        <p:nvSpPr>
          <p:cNvPr id="11" name="Text 9"/>
          <p:cNvSpPr/>
          <p:nvPr/>
        </p:nvSpPr>
        <p:spPr>
          <a:xfrm>
            <a:off x="822960" y="326440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Razorpay gateway</a:t>
            </a:r>
            <a:endParaRPr lang="en-US" sz="1200" dirty="0"/>
          </a:p>
        </p:txBody>
      </p:sp>
      <p:sp>
        <p:nvSpPr>
          <p:cNvPr id="12" name="Text 10"/>
          <p:cNvSpPr/>
          <p:nvPr/>
        </p:nvSpPr>
        <p:spPr>
          <a:xfrm>
            <a:off x="4480560" y="326440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₹19,000/mo</a:t>
            </a:r>
            <a:endParaRPr lang="en-US" sz="1200" dirty="0"/>
          </a:p>
        </p:txBody>
      </p:sp>
      <p:sp>
        <p:nvSpPr>
          <p:cNvPr id="13" name="Text 11"/>
          <p:cNvSpPr/>
          <p:nvPr/>
        </p:nvSpPr>
        <p:spPr>
          <a:xfrm>
            <a:off x="6766560" y="326440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₹38,000/mo</a:t>
            </a:r>
            <a:endParaRPr lang="en-US" sz="1200" dirty="0"/>
          </a:p>
        </p:txBody>
      </p:sp>
      <p:sp>
        <p:nvSpPr>
          <p:cNvPr id="14" name="Text 12"/>
          <p:cNvSpPr/>
          <p:nvPr/>
        </p:nvSpPr>
        <p:spPr>
          <a:xfrm>
            <a:off x="9052560" y="326440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₹76,000/mo</a:t>
            </a:r>
            <a:endParaRPr lang="en-US" sz="1200" dirty="0"/>
          </a:p>
        </p:txBody>
      </p:sp>
      <p:sp>
        <p:nvSpPr>
          <p:cNvPr id="15" name="Shape 13"/>
          <p:cNvSpPr/>
          <p:nvPr/>
        </p:nvSpPr>
        <p:spPr>
          <a:xfrm>
            <a:off x="731520" y="3767328"/>
            <a:ext cx="10698480" cy="502920"/>
          </a:xfrm>
          <a:prstGeom prst="rect">
            <a:avLst/>
          </a:prstGeom>
          <a:solidFill>
            <a:srgbClr val="0B1520"/>
          </a:solidFill>
          <a:ln w="3810">
            <a:solidFill>
              <a:srgbClr val="2A3F5A"/>
            </a:solidFill>
            <a:prstDash val="solid"/>
          </a:ln>
        </p:spPr>
      </p:sp>
      <p:sp>
        <p:nvSpPr>
          <p:cNvPr id="16" name="Text 14"/>
          <p:cNvSpPr/>
          <p:nvPr/>
        </p:nvSpPr>
        <p:spPr>
          <a:xfrm>
            <a:off x="822960" y="376732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Courier COD fees</a:t>
            </a:r>
            <a:endParaRPr lang="en-US" sz="1200" dirty="0"/>
          </a:p>
        </p:txBody>
      </p:sp>
      <p:sp>
        <p:nvSpPr>
          <p:cNvPr id="17" name="Text 15"/>
          <p:cNvSpPr/>
          <p:nvPr/>
        </p:nvSpPr>
        <p:spPr>
          <a:xfrm>
            <a:off x="4480560" y="376732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₹80,000/mo</a:t>
            </a:r>
            <a:endParaRPr lang="en-US" sz="1200" dirty="0"/>
          </a:p>
        </p:txBody>
      </p:sp>
      <p:sp>
        <p:nvSpPr>
          <p:cNvPr id="18" name="Text 16"/>
          <p:cNvSpPr/>
          <p:nvPr/>
        </p:nvSpPr>
        <p:spPr>
          <a:xfrm>
            <a:off x="6766560" y="376732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₹1.6 L/mo</a:t>
            </a:r>
            <a:endParaRPr lang="en-US" sz="1200" dirty="0"/>
          </a:p>
        </p:txBody>
      </p:sp>
      <p:sp>
        <p:nvSpPr>
          <p:cNvPr id="19" name="Text 17"/>
          <p:cNvSpPr/>
          <p:nvPr/>
        </p:nvSpPr>
        <p:spPr>
          <a:xfrm>
            <a:off x="9052560" y="376732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₹3.2 L/mo</a:t>
            </a:r>
            <a:endParaRPr lang="en-US" sz="1200" dirty="0"/>
          </a:p>
        </p:txBody>
      </p:sp>
      <p:sp>
        <p:nvSpPr>
          <p:cNvPr id="20" name="Shape 18"/>
          <p:cNvSpPr/>
          <p:nvPr/>
        </p:nvSpPr>
        <p:spPr>
          <a:xfrm>
            <a:off x="731520" y="4270248"/>
            <a:ext cx="10698480" cy="502920"/>
          </a:xfrm>
          <a:prstGeom prst="rect">
            <a:avLst/>
          </a:prstGeom>
          <a:solidFill>
            <a:srgbClr val="14263F"/>
          </a:solidFill>
          <a:ln w="3810">
            <a:solidFill>
              <a:srgbClr val="2A3F5A"/>
            </a:solidFill>
            <a:prstDash val="solid"/>
          </a:ln>
        </p:spPr>
      </p:sp>
      <p:sp>
        <p:nvSpPr>
          <p:cNvPr id="21" name="Text 19"/>
          <p:cNvSpPr/>
          <p:nvPr/>
        </p:nvSpPr>
        <p:spPr>
          <a:xfrm>
            <a:off x="822960" y="427024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Product COGS + packaging</a:t>
            </a:r>
            <a:endParaRPr lang="en-US" sz="1200" dirty="0"/>
          </a:p>
        </p:txBody>
      </p:sp>
      <p:sp>
        <p:nvSpPr>
          <p:cNvPr id="22" name="Text 20"/>
          <p:cNvSpPr/>
          <p:nvPr/>
        </p:nvSpPr>
        <p:spPr>
          <a:xfrm>
            <a:off x="4480560" y="427024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Varies</a:t>
            </a:r>
            <a:endParaRPr lang="en-US" sz="1200" dirty="0"/>
          </a:p>
        </p:txBody>
      </p:sp>
      <p:sp>
        <p:nvSpPr>
          <p:cNvPr id="23" name="Text 21"/>
          <p:cNvSpPr/>
          <p:nvPr/>
        </p:nvSpPr>
        <p:spPr>
          <a:xfrm>
            <a:off x="6766560" y="427024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Varies</a:t>
            </a:r>
            <a:endParaRPr lang="en-US" sz="1200" dirty="0"/>
          </a:p>
        </p:txBody>
      </p:sp>
      <p:sp>
        <p:nvSpPr>
          <p:cNvPr id="24" name="Text 22"/>
          <p:cNvSpPr/>
          <p:nvPr/>
        </p:nvSpPr>
        <p:spPr>
          <a:xfrm>
            <a:off x="9052560" y="427024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Varies</a:t>
            </a:r>
            <a:endParaRPr lang="en-US" sz="1200" dirty="0"/>
          </a:p>
        </p:txBody>
      </p:sp>
      <p:sp>
        <p:nvSpPr>
          <p:cNvPr id="25" name="Shape 23"/>
          <p:cNvSpPr/>
          <p:nvPr/>
        </p:nvSpPr>
        <p:spPr>
          <a:xfrm>
            <a:off x="731520" y="4773168"/>
            <a:ext cx="10698480" cy="502920"/>
          </a:xfrm>
          <a:prstGeom prst="rect">
            <a:avLst/>
          </a:prstGeom>
          <a:solidFill>
            <a:srgbClr val="0B1520"/>
          </a:solidFill>
          <a:ln w="3810">
            <a:solidFill>
              <a:srgbClr val="2A3F5A"/>
            </a:solidFill>
            <a:prstDash val="solid"/>
          </a:ln>
        </p:spPr>
      </p:sp>
      <p:sp>
        <p:nvSpPr>
          <p:cNvPr id="26" name="Text 24"/>
          <p:cNvSpPr/>
          <p:nvPr/>
        </p:nvSpPr>
        <p:spPr>
          <a:xfrm>
            <a:off x="822960" y="4773168"/>
            <a:ext cx="3520440" cy="50292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Marketing (ads, PR)</a:t>
            </a:r>
            <a:endParaRPr lang="en-US" sz="1200" dirty="0"/>
          </a:p>
        </p:txBody>
      </p:sp>
      <p:sp>
        <p:nvSpPr>
          <p:cNvPr id="27" name="Text 25"/>
          <p:cNvSpPr/>
          <p:nvPr/>
        </p:nvSpPr>
        <p:spPr>
          <a:xfrm>
            <a:off x="4480560" y="477316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₹1.2 – 2 L/mo</a:t>
            </a:r>
            <a:endParaRPr lang="en-US" sz="1200" dirty="0"/>
          </a:p>
        </p:txBody>
      </p:sp>
      <p:sp>
        <p:nvSpPr>
          <p:cNvPr id="28" name="Text 26"/>
          <p:cNvSpPr/>
          <p:nvPr/>
        </p:nvSpPr>
        <p:spPr>
          <a:xfrm>
            <a:off x="6766560" y="4773168"/>
            <a:ext cx="2148840" cy="5029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₹2.4 – 4 L/mo</a:t>
            </a:r>
            <a:endParaRPr lang="en-US" sz="1200" dirty="0"/>
          </a:p>
        </p:txBody>
      </p:sp>
      <p:sp>
        <p:nvSpPr>
          <p:cNvPr id="29" name="Text 27"/>
          <p:cNvSpPr/>
          <p:nvPr/>
        </p:nvSpPr>
        <p:spPr>
          <a:xfrm>
            <a:off x="9052560" y="4773168"/>
            <a:ext cx="2331720" cy="50292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₹4.8 – 8 L/mo</a:t>
            </a:r>
            <a:endParaRPr lang="en-US" sz="1200" dirty="0"/>
          </a:p>
        </p:txBody>
      </p:sp>
      <p:sp>
        <p:nvSpPr>
          <p:cNvPr id="30" name="Text 28"/>
          <p:cNvSpPr/>
          <p:nvPr/>
        </p:nvSpPr>
        <p:spPr>
          <a:xfrm>
            <a:off x="731520" y="6080760"/>
            <a:ext cx="10698480" cy="457200"/>
          </a:xfrm>
          <a:prstGeom prst="rect">
            <a:avLst/>
          </a:prstGeom>
          <a:noFill/>
          <a:ln/>
        </p:spPr>
        <p:txBody>
          <a:bodyPr wrap="square" lIns="0" tIns="0" rIns="0" bIns="0" rtlCol="0" anchor="ctr"/>
          <a:lstStyle/>
          <a:p>
            <a:pPr indent="0" marL="0">
              <a:buNone/>
            </a:pPr>
            <a:r>
              <a:rPr lang="en-US" sz="1300" i="1" dirty="0">
                <a:solidFill>
                  <a:srgbClr val="7A8AA8"/>
                </a:solidFill>
                <a:latin typeface="Cambria" pitchFamily="34" charset="0"/>
                <a:ea typeface="Cambria" pitchFamily="34" charset="-122"/>
                <a:cs typeface="Cambria" pitchFamily="34" charset="-120"/>
              </a:rPr>
              <a:t>These dwarf infrastructure spend. Which is why keeping the digital layer cheap and reliable is exactly the right call.</a:t>
            </a:r>
            <a:endParaRPr lang="en-US" sz="1300" dirty="0"/>
          </a:p>
        </p:txBody>
      </p:sp>
      <p:sp>
        <p:nvSpPr>
          <p:cNvPr id="31" name="Text 2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32" name="Text 3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13 / 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Decision matrix</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When to </a:t>
            </a:r>
            <a:pPr indent="0" marL="0">
              <a:buNone/>
            </a:pPr>
            <a:r>
              <a:rPr lang="en-US" sz="4000" b="1" i="1" dirty="0">
                <a:solidFill>
                  <a:srgbClr val="F0994A"/>
                </a:solidFill>
                <a:latin typeface="Cambria" pitchFamily="34" charset="0"/>
                <a:ea typeface="Cambria" pitchFamily="34" charset="-122"/>
                <a:cs typeface="Cambria" pitchFamily="34" charset="-120"/>
              </a:rPr>
              <a:t>actually upgrade.</a:t>
            </a:r>
            <a:endParaRPr lang="en-US" sz="4000" dirty="0"/>
          </a:p>
        </p:txBody>
      </p:sp>
      <p:sp>
        <p:nvSpPr>
          <p:cNvPr id="4" name="Text 2"/>
          <p:cNvSpPr/>
          <p:nvPr/>
        </p:nvSpPr>
        <p:spPr>
          <a:xfrm>
            <a:off x="731520" y="1920240"/>
            <a:ext cx="10515600" cy="457200"/>
          </a:xfrm>
          <a:prstGeom prst="rect">
            <a:avLst/>
          </a:prstGeom>
          <a:noFill/>
          <a:ln/>
        </p:spPr>
        <p:txBody>
          <a:bodyPr wrap="square" lIns="0" tIns="0" rIns="0" bIns="0" rtlCol="0" anchor="ctr"/>
          <a:lstStyle/>
          <a:p>
            <a:pPr indent="0" marL="0">
              <a:buNone/>
            </a:pPr>
            <a:r>
              <a:rPr lang="en-US" sz="1500" i="1" dirty="0">
                <a:solidFill>
                  <a:srgbClr val="CFC5AC"/>
                </a:solidFill>
                <a:latin typeface="Cambria" pitchFamily="34" charset="0"/>
                <a:ea typeface="Cambria" pitchFamily="34" charset="-122"/>
                <a:cs typeface="Cambria" pitchFamily="34" charset="-120"/>
              </a:rPr>
              <a:t>Don't upgrade because you're worried. Upgrade because a signal tells you to.</a:t>
            </a:r>
            <a:endParaRPr lang="en-US" sz="1500" dirty="0"/>
          </a:p>
        </p:txBody>
      </p:sp>
      <p:sp>
        <p:nvSpPr>
          <p:cNvPr id="5" name="Shape 3"/>
          <p:cNvSpPr/>
          <p:nvPr/>
        </p:nvSpPr>
        <p:spPr>
          <a:xfrm>
            <a:off x="731520" y="2606040"/>
            <a:ext cx="10698480" cy="384048"/>
          </a:xfrm>
          <a:prstGeom prst="rect">
            <a:avLst/>
          </a:prstGeom>
          <a:solidFill>
            <a:srgbClr val="1A2E48"/>
          </a:solidFill>
          <a:ln w="6350">
            <a:solidFill>
              <a:srgbClr val="2A3F5A"/>
            </a:solidFill>
            <a:prstDash val="solid"/>
          </a:ln>
        </p:spPr>
      </p:sp>
      <p:sp>
        <p:nvSpPr>
          <p:cNvPr id="6" name="Text 4"/>
          <p:cNvSpPr/>
          <p:nvPr/>
        </p:nvSpPr>
        <p:spPr>
          <a:xfrm>
            <a:off x="822960" y="2606040"/>
            <a:ext cx="48920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Trigger</a:t>
            </a:r>
            <a:endParaRPr lang="en-US" sz="1100" dirty="0"/>
          </a:p>
        </p:txBody>
      </p:sp>
      <p:sp>
        <p:nvSpPr>
          <p:cNvPr id="7" name="Text 5"/>
          <p:cNvSpPr/>
          <p:nvPr/>
        </p:nvSpPr>
        <p:spPr>
          <a:xfrm>
            <a:off x="5852160" y="2606040"/>
            <a:ext cx="16916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You're on...</a:t>
            </a:r>
            <a:endParaRPr lang="en-US" sz="1100" dirty="0"/>
          </a:p>
        </p:txBody>
      </p:sp>
      <p:sp>
        <p:nvSpPr>
          <p:cNvPr id="8" name="Text 6"/>
          <p:cNvSpPr/>
          <p:nvPr/>
        </p:nvSpPr>
        <p:spPr>
          <a:xfrm>
            <a:off x="7680960" y="2606040"/>
            <a:ext cx="214884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Upgrade to...</a:t>
            </a:r>
            <a:endParaRPr lang="en-US" sz="1100" dirty="0"/>
          </a:p>
        </p:txBody>
      </p:sp>
      <p:sp>
        <p:nvSpPr>
          <p:cNvPr id="9" name="Text 7"/>
          <p:cNvSpPr/>
          <p:nvPr/>
        </p:nvSpPr>
        <p:spPr>
          <a:xfrm>
            <a:off x="9966960" y="2606040"/>
            <a:ext cx="1417320" cy="384048"/>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Approx cost jump</a:t>
            </a:r>
            <a:endParaRPr lang="en-US" sz="1100" dirty="0"/>
          </a:p>
        </p:txBody>
      </p:sp>
      <p:sp>
        <p:nvSpPr>
          <p:cNvPr id="10" name="Shape 8"/>
          <p:cNvSpPr/>
          <p:nvPr/>
        </p:nvSpPr>
        <p:spPr>
          <a:xfrm>
            <a:off x="731520" y="2990088"/>
            <a:ext cx="10698480" cy="457200"/>
          </a:xfrm>
          <a:prstGeom prst="rect">
            <a:avLst/>
          </a:prstGeom>
          <a:solidFill>
            <a:srgbClr val="14263F"/>
          </a:solidFill>
          <a:ln w="3810">
            <a:solidFill>
              <a:srgbClr val="2A3F5A"/>
            </a:solidFill>
            <a:prstDash val="solid"/>
          </a:ln>
        </p:spPr>
      </p:sp>
      <p:sp>
        <p:nvSpPr>
          <p:cNvPr id="11" name="Text 9"/>
          <p:cNvSpPr/>
          <p:nvPr/>
        </p:nvSpPr>
        <p:spPr>
          <a:xfrm>
            <a:off x="822960" y="29900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p95 response time &gt; 500ms for a week</a:t>
            </a:r>
            <a:endParaRPr lang="en-US" sz="1200" dirty="0"/>
          </a:p>
        </p:txBody>
      </p:sp>
      <p:sp>
        <p:nvSpPr>
          <p:cNvPr id="12" name="Text 10"/>
          <p:cNvSpPr/>
          <p:nvPr/>
        </p:nvSpPr>
        <p:spPr>
          <a:xfrm>
            <a:off x="5852160" y="29900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Free</a:t>
            </a:r>
            <a:endParaRPr lang="en-US" sz="1200" dirty="0"/>
          </a:p>
        </p:txBody>
      </p:sp>
      <p:sp>
        <p:nvSpPr>
          <p:cNvPr id="13" name="Text 11"/>
          <p:cNvSpPr/>
          <p:nvPr/>
        </p:nvSpPr>
        <p:spPr>
          <a:xfrm>
            <a:off x="7680960" y="29900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a:t>
            </a:r>
            <a:endParaRPr lang="en-US" sz="1200" dirty="0"/>
          </a:p>
        </p:txBody>
      </p:sp>
      <p:sp>
        <p:nvSpPr>
          <p:cNvPr id="14" name="Text 12"/>
          <p:cNvSpPr/>
          <p:nvPr/>
        </p:nvSpPr>
        <p:spPr>
          <a:xfrm>
            <a:off x="9966960" y="29900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+₹1,180 /mo</a:t>
            </a:r>
            <a:endParaRPr lang="en-US" sz="1200" dirty="0"/>
          </a:p>
        </p:txBody>
      </p:sp>
      <p:sp>
        <p:nvSpPr>
          <p:cNvPr id="15" name="Shape 13"/>
          <p:cNvSpPr/>
          <p:nvPr/>
        </p:nvSpPr>
        <p:spPr>
          <a:xfrm>
            <a:off x="731520" y="3447288"/>
            <a:ext cx="10698480" cy="457200"/>
          </a:xfrm>
          <a:prstGeom prst="rect">
            <a:avLst/>
          </a:prstGeom>
          <a:solidFill>
            <a:srgbClr val="0B1520"/>
          </a:solidFill>
          <a:ln w="3810">
            <a:solidFill>
              <a:srgbClr val="2A3F5A"/>
            </a:solidFill>
            <a:prstDash val="solid"/>
          </a:ln>
        </p:spPr>
      </p:sp>
      <p:sp>
        <p:nvSpPr>
          <p:cNvPr id="16" name="Text 14"/>
          <p:cNvSpPr/>
          <p:nvPr/>
        </p:nvSpPr>
        <p:spPr>
          <a:xfrm>
            <a:off x="822960" y="34472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Sustained &gt; 30 concurrent users</a:t>
            </a:r>
            <a:endParaRPr lang="en-US" sz="1200" dirty="0"/>
          </a:p>
        </p:txBody>
      </p:sp>
      <p:sp>
        <p:nvSpPr>
          <p:cNvPr id="17" name="Text 15"/>
          <p:cNvSpPr/>
          <p:nvPr/>
        </p:nvSpPr>
        <p:spPr>
          <a:xfrm>
            <a:off x="5852160" y="34472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Starter</a:t>
            </a:r>
            <a:endParaRPr lang="en-US" sz="1200" dirty="0"/>
          </a:p>
        </p:txBody>
      </p:sp>
      <p:sp>
        <p:nvSpPr>
          <p:cNvPr id="18" name="Text 16"/>
          <p:cNvSpPr/>
          <p:nvPr/>
        </p:nvSpPr>
        <p:spPr>
          <a:xfrm>
            <a:off x="7680960" y="34472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19" name="Text 17"/>
          <p:cNvSpPr/>
          <p:nvPr/>
        </p:nvSpPr>
        <p:spPr>
          <a:xfrm>
            <a:off x="9966960" y="34472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+₹2,600 /mo</a:t>
            </a:r>
            <a:endParaRPr lang="en-US" sz="1200" dirty="0"/>
          </a:p>
        </p:txBody>
      </p:sp>
      <p:sp>
        <p:nvSpPr>
          <p:cNvPr id="20" name="Shape 18"/>
          <p:cNvSpPr/>
          <p:nvPr/>
        </p:nvSpPr>
        <p:spPr>
          <a:xfrm>
            <a:off x="731520" y="3904488"/>
            <a:ext cx="10698480" cy="457200"/>
          </a:xfrm>
          <a:prstGeom prst="rect">
            <a:avLst/>
          </a:prstGeom>
          <a:solidFill>
            <a:srgbClr val="14263F"/>
          </a:solidFill>
          <a:ln w="3810">
            <a:solidFill>
              <a:srgbClr val="2A3F5A"/>
            </a:solidFill>
            <a:prstDash val="solid"/>
          </a:ln>
        </p:spPr>
      </p:sp>
      <p:sp>
        <p:nvSpPr>
          <p:cNvPr id="21" name="Text 19"/>
          <p:cNvSpPr/>
          <p:nvPr/>
        </p:nvSpPr>
        <p:spPr>
          <a:xfrm>
            <a:off x="822960" y="39044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Email sends &gt; 3,000 / month</a:t>
            </a:r>
            <a:endParaRPr lang="en-US" sz="1200" dirty="0"/>
          </a:p>
        </p:txBody>
      </p:sp>
      <p:sp>
        <p:nvSpPr>
          <p:cNvPr id="22" name="Text 20"/>
          <p:cNvSpPr/>
          <p:nvPr/>
        </p:nvSpPr>
        <p:spPr>
          <a:xfrm>
            <a:off x="5852160" y="39044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Resend Free</a:t>
            </a:r>
            <a:endParaRPr lang="en-US" sz="1200" dirty="0"/>
          </a:p>
        </p:txBody>
      </p:sp>
      <p:sp>
        <p:nvSpPr>
          <p:cNvPr id="23" name="Text 21"/>
          <p:cNvSpPr/>
          <p:nvPr/>
        </p:nvSpPr>
        <p:spPr>
          <a:xfrm>
            <a:off x="7680960" y="39044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Resend Pro</a:t>
            </a:r>
            <a:endParaRPr lang="en-US" sz="1200" dirty="0"/>
          </a:p>
        </p:txBody>
      </p:sp>
      <p:sp>
        <p:nvSpPr>
          <p:cNvPr id="24" name="Text 22"/>
          <p:cNvSpPr/>
          <p:nvPr/>
        </p:nvSpPr>
        <p:spPr>
          <a:xfrm>
            <a:off x="9966960" y="39044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+₹1,700 /mo</a:t>
            </a:r>
            <a:endParaRPr lang="en-US" sz="1200" dirty="0"/>
          </a:p>
        </p:txBody>
      </p:sp>
      <p:sp>
        <p:nvSpPr>
          <p:cNvPr id="25" name="Shape 23"/>
          <p:cNvSpPr/>
          <p:nvPr/>
        </p:nvSpPr>
        <p:spPr>
          <a:xfrm>
            <a:off x="731520" y="4361688"/>
            <a:ext cx="10698480" cy="457200"/>
          </a:xfrm>
          <a:prstGeom prst="rect">
            <a:avLst/>
          </a:prstGeom>
          <a:solidFill>
            <a:srgbClr val="0B1520"/>
          </a:solidFill>
          <a:ln w="3810">
            <a:solidFill>
              <a:srgbClr val="2A3F5A"/>
            </a:solidFill>
            <a:prstDash val="solid"/>
          </a:ln>
        </p:spPr>
      </p:sp>
      <p:sp>
        <p:nvSpPr>
          <p:cNvPr id="26" name="Text 24"/>
          <p:cNvSpPr/>
          <p:nvPr/>
        </p:nvSpPr>
        <p:spPr>
          <a:xfrm>
            <a:off x="822960" y="43616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Sustained &gt; 100 concurrent users</a:t>
            </a:r>
            <a:endParaRPr lang="en-US" sz="1200" dirty="0"/>
          </a:p>
        </p:txBody>
      </p:sp>
      <p:sp>
        <p:nvSpPr>
          <p:cNvPr id="27" name="Text 25"/>
          <p:cNvSpPr/>
          <p:nvPr/>
        </p:nvSpPr>
        <p:spPr>
          <a:xfrm>
            <a:off x="5852160" y="43616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a:t>
            </a:r>
            <a:endParaRPr lang="en-US" sz="1200" dirty="0"/>
          </a:p>
        </p:txBody>
      </p:sp>
      <p:sp>
        <p:nvSpPr>
          <p:cNvPr id="28" name="Text 26"/>
          <p:cNvSpPr/>
          <p:nvPr/>
        </p:nvSpPr>
        <p:spPr>
          <a:xfrm>
            <a:off x="7680960" y="43616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Pro</a:t>
            </a:r>
            <a:endParaRPr lang="en-US" sz="1200" dirty="0"/>
          </a:p>
        </p:txBody>
      </p:sp>
      <p:sp>
        <p:nvSpPr>
          <p:cNvPr id="29" name="Text 27"/>
          <p:cNvSpPr/>
          <p:nvPr/>
        </p:nvSpPr>
        <p:spPr>
          <a:xfrm>
            <a:off x="9966960" y="43616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+₹5,100 /mo</a:t>
            </a:r>
            <a:endParaRPr lang="en-US" sz="1200" dirty="0"/>
          </a:p>
        </p:txBody>
      </p:sp>
      <p:sp>
        <p:nvSpPr>
          <p:cNvPr id="30" name="Shape 28"/>
          <p:cNvSpPr/>
          <p:nvPr/>
        </p:nvSpPr>
        <p:spPr>
          <a:xfrm>
            <a:off x="731520" y="4818888"/>
            <a:ext cx="10698480" cy="457200"/>
          </a:xfrm>
          <a:prstGeom prst="rect">
            <a:avLst/>
          </a:prstGeom>
          <a:solidFill>
            <a:srgbClr val="14263F"/>
          </a:solidFill>
          <a:ln w="3810">
            <a:solidFill>
              <a:srgbClr val="2A3F5A"/>
            </a:solidFill>
            <a:prstDash val="solid"/>
          </a:ln>
        </p:spPr>
      </p:sp>
      <p:sp>
        <p:nvSpPr>
          <p:cNvPr id="31" name="Text 29"/>
          <p:cNvSpPr/>
          <p:nvPr/>
        </p:nvSpPr>
        <p:spPr>
          <a:xfrm>
            <a:off x="822960" y="48188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DB queries taking &gt; 200ms consistently</a:t>
            </a:r>
            <a:endParaRPr lang="en-US" sz="1200" dirty="0"/>
          </a:p>
        </p:txBody>
      </p:sp>
      <p:sp>
        <p:nvSpPr>
          <p:cNvPr id="32" name="Text 30"/>
          <p:cNvSpPr/>
          <p:nvPr/>
        </p:nvSpPr>
        <p:spPr>
          <a:xfrm>
            <a:off x="5852160" y="48188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Standard DB</a:t>
            </a:r>
            <a:endParaRPr lang="en-US" sz="1200" dirty="0"/>
          </a:p>
        </p:txBody>
      </p:sp>
      <p:sp>
        <p:nvSpPr>
          <p:cNvPr id="33" name="Text 31"/>
          <p:cNvSpPr/>
          <p:nvPr/>
        </p:nvSpPr>
        <p:spPr>
          <a:xfrm>
            <a:off x="7680960" y="48188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Pro DB</a:t>
            </a:r>
            <a:endParaRPr lang="en-US" sz="1200" dirty="0"/>
          </a:p>
        </p:txBody>
      </p:sp>
      <p:sp>
        <p:nvSpPr>
          <p:cNvPr id="34" name="Text 32"/>
          <p:cNvSpPr/>
          <p:nvPr/>
        </p:nvSpPr>
        <p:spPr>
          <a:xfrm>
            <a:off x="9966960" y="48188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+₹6,400 /mo</a:t>
            </a:r>
            <a:endParaRPr lang="en-US" sz="1200" dirty="0"/>
          </a:p>
        </p:txBody>
      </p:sp>
      <p:sp>
        <p:nvSpPr>
          <p:cNvPr id="35" name="Shape 33"/>
          <p:cNvSpPr/>
          <p:nvPr/>
        </p:nvSpPr>
        <p:spPr>
          <a:xfrm>
            <a:off x="731520" y="5276088"/>
            <a:ext cx="10698480" cy="457200"/>
          </a:xfrm>
          <a:prstGeom prst="rect">
            <a:avLst/>
          </a:prstGeom>
          <a:solidFill>
            <a:srgbClr val="0B1520"/>
          </a:solidFill>
          <a:ln w="3810">
            <a:solidFill>
              <a:srgbClr val="2A3F5A"/>
            </a:solidFill>
            <a:prstDash val="solid"/>
          </a:ln>
        </p:spPr>
      </p:sp>
      <p:sp>
        <p:nvSpPr>
          <p:cNvPr id="36" name="Text 34"/>
          <p:cNvSpPr/>
          <p:nvPr/>
        </p:nvSpPr>
        <p:spPr>
          <a:xfrm>
            <a:off x="822960" y="5276088"/>
            <a:ext cx="4892040" cy="457200"/>
          </a:xfrm>
          <a:prstGeom prst="rect">
            <a:avLst/>
          </a:prstGeom>
          <a:noFill/>
          <a:ln/>
        </p:spPr>
        <p:txBody>
          <a:bodyPr wrap="square" lIns="0" tIns="0" rIns="0" bIns="0" rtlCol="0" anchor="ctr"/>
          <a:lstStyle/>
          <a:p>
            <a:pPr indent="0" marL="0">
              <a:buNone/>
            </a:pPr>
            <a:r>
              <a:rPr lang="en-US" sz="1200" b="1" dirty="0">
                <a:solidFill>
                  <a:srgbClr val="F5EDD8"/>
                </a:solidFill>
                <a:latin typeface="Calibri" pitchFamily="34" charset="0"/>
                <a:ea typeface="Calibri" pitchFamily="34" charset="-122"/>
                <a:cs typeface="Calibri" pitchFamily="34" charset="-120"/>
              </a:rPr>
              <a:t>Sudden 100× traffic spikes weekly</a:t>
            </a:r>
            <a:endParaRPr lang="en-US" sz="1200" dirty="0"/>
          </a:p>
        </p:txBody>
      </p:sp>
      <p:sp>
        <p:nvSpPr>
          <p:cNvPr id="37" name="Text 35"/>
          <p:cNvSpPr/>
          <p:nvPr/>
        </p:nvSpPr>
        <p:spPr>
          <a:xfrm>
            <a:off x="5852160" y="5276088"/>
            <a:ext cx="16916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Vertical scaling</a:t>
            </a:r>
            <a:endParaRPr lang="en-US" sz="1200" dirty="0"/>
          </a:p>
        </p:txBody>
      </p:sp>
      <p:sp>
        <p:nvSpPr>
          <p:cNvPr id="38" name="Text 36"/>
          <p:cNvSpPr/>
          <p:nvPr/>
        </p:nvSpPr>
        <p:spPr>
          <a:xfrm>
            <a:off x="7680960" y="5276088"/>
            <a:ext cx="2148840" cy="45720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Horizontal (2× instances)</a:t>
            </a:r>
            <a:endParaRPr lang="en-US" sz="1200" dirty="0"/>
          </a:p>
        </p:txBody>
      </p:sp>
      <p:sp>
        <p:nvSpPr>
          <p:cNvPr id="39" name="Text 37"/>
          <p:cNvSpPr/>
          <p:nvPr/>
        </p:nvSpPr>
        <p:spPr>
          <a:xfrm>
            <a:off x="9966960" y="5276088"/>
            <a:ext cx="1417320" cy="457200"/>
          </a:xfrm>
          <a:prstGeom prst="rect">
            <a:avLst/>
          </a:prstGeom>
          <a:noFill/>
          <a:ln/>
        </p:spPr>
        <p:txBody>
          <a:bodyPr wrap="square" lIns="0" tIns="0" rIns="0" bIns="0" rtlCol="0" anchor="ctr"/>
          <a:lstStyle/>
          <a:p>
            <a:pPr indent="0" marL="0">
              <a:buNone/>
            </a:pPr>
            <a:r>
              <a:rPr lang="en-US" sz="1200" b="1" dirty="0">
                <a:solidFill>
                  <a:srgbClr val="E9C36B"/>
                </a:solidFill>
                <a:latin typeface="Calibri" pitchFamily="34" charset="0"/>
                <a:ea typeface="Calibri" pitchFamily="34" charset="-122"/>
                <a:cs typeface="Calibri" pitchFamily="34" charset="-120"/>
              </a:rPr>
              <a:t>+₹2,100 /mo</a:t>
            </a:r>
            <a:endParaRPr lang="en-US" sz="1200" dirty="0"/>
          </a:p>
        </p:txBody>
      </p:sp>
      <p:sp>
        <p:nvSpPr>
          <p:cNvPr id="40" name="Text 38"/>
          <p:cNvSpPr/>
          <p:nvPr/>
        </p:nvSpPr>
        <p:spPr>
          <a:xfrm>
            <a:off x="731520" y="6172200"/>
            <a:ext cx="10698480" cy="365760"/>
          </a:xfrm>
          <a:prstGeom prst="rect">
            <a:avLst/>
          </a:prstGeom>
          <a:noFill/>
          <a:ln/>
        </p:spPr>
        <p:txBody>
          <a:bodyPr wrap="square" lIns="0" tIns="0" rIns="0" bIns="0" rtlCol="0" anchor="ctr"/>
          <a:lstStyle/>
          <a:p>
            <a:pPr indent="0" marL="0">
              <a:buNone/>
            </a:pPr>
            <a:r>
              <a:rPr lang="en-US" sz="1300" b="1" dirty="0">
                <a:solidFill>
                  <a:srgbClr val="F0994A"/>
                </a:solidFill>
                <a:latin typeface="Calibri" pitchFamily="34" charset="0"/>
                <a:ea typeface="Calibri" pitchFamily="34" charset="-122"/>
                <a:cs typeface="Calibri" pitchFamily="34" charset="-120"/>
              </a:rPr>
              <a:t>Rule of thumb: </a:t>
            </a:r>
            <a:pPr indent="0" marL="0">
              <a:buNone/>
            </a:pPr>
            <a:r>
              <a:rPr lang="en-US" sz="1300" dirty="0">
                <a:solidFill>
                  <a:srgbClr val="CFC5AC"/>
                </a:solidFill>
                <a:latin typeface="Cambria" pitchFamily="34" charset="0"/>
                <a:ea typeface="Cambria" pitchFamily="34" charset="-122"/>
                <a:cs typeface="Cambria" pitchFamily="34" charset="-120"/>
              </a:rPr>
              <a:t>add caching before you add hardware. Caching /products and /reels for 60 seconds cuts backend load 5–10×.</a:t>
            </a:r>
            <a:endParaRPr lang="en-US" sz="1300" dirty="0"/>
          </a:p>
        </p:txBody>
      </p:sp>
      <p:sp>
        <p:nvSpPr>
          <p:cNvPr id="41" name="Text 39"/>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42" name="Text 40"/>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14 / 16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520"/>
        </a:solidFill>
      </p:bgPr>
    </p:bg>
    <p:spTree>
      <p:nvGrpSpPr>
        <p:cNvPr id="1" name=""/>
        <p:cNvGrpSpPr/>
        <p:nvPr/>
      </p:nvGrpSpPr>
      <p:grpSpPr>
        <a:xfrm>
          <a:off x="0" y="0"/>
          <a:ext cx="0" cy="0"/>
          <a:chOff x="0" y="0"/>
          <a:chExt cx="0" cy="0"/>
        </a:xfrm>
      </p:grpSpPr>
      <p:sp>
        <p:nvSpPr>
          <p:cNvPr id="2" name="Shape 0"/>
          <p:cNvSpPr/>
          <p:nvPr/>
        </p:nvSpPr>
        <p:spPr>
          <a:xfrm>
            <a:off x="-1828800" y="2743200"/>
            <a:ext cx="7315200" cy="7315200"/>
          </a:xfrm>
          <a:prstGeom prst="ellipse">
            <a:avLst/>
          </a:prstGeom>
          <a:solidFill>
            <a:srgbClr val="F0994A">
              <a:alpha val="10000"/>
            </a:srgbClr>
          </a:solidFill>
          <a:ln w="12700">
            <a:solidFill>
              <a:srgbClr val="FFFFFF">
                <a:alpha val="0"/>
              </a:srgbClr>
            </a:solidFill>
            <a:prstDash val="solid"/>
          </a:ln>
        </p:spPr>
      </p:sp>
      <p:sp>
        <p:nvSpPr>
          <p:cNvPr id="3" name="Text 1"/>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Recommendations</a:t>
            </a:r>
            <a:endParaRPr lang="en-US" sz="1100" dirty="0"/>
          </a:p>
        </p:txBody>
      </p:sp>
      <p:sp>
        <p:nvSpPr>
          <p:cNvPr id="4" name="Text 2"/>
          <p:cNvSpPr/>
          <p:nvPr/>
        </p:nvSpPr>
        <p:spPr>
          <a:xfrm>
            <a:off x="731520" y="1005840"/>
            <a:ext cx="10972800" cy="868680"/>
          </a:xfrm>
          <a:prstGeom prst="rect">
            <a:avLst/>
          </a:prstGeom>
          <a:noFill/>
          <a:ln/>
        </p:spPr>
        <p:txBody>
          <a:bodyPr wrap="square" lIns="0" tIns="0" rIns="0" bIns="0" rtlCol="0" anchor="ctr"/>
          <a:lstStyle/>
          <a:p>
            <a:pPr indent="0" marL="0">
              <a:buNone/>
            </a:pPr>
            <a:r>
              <a:rPr lang="en-US" sz="4200" b="1" dirty="0">
                <a:solidFill>
                  <a:srgbClr val="F5EDD8"/>
                </a:solidFill>
                <a:latin typeface="Cambria" pitchFamily="34" charset="0"/>
                <a:ea typeface="Cambria" pitchFamily="34" charset="-122"/>
                <a:cs typeface="Cambria" pitchFamily="34" charset="-120"/>
              </a:rPr>
              <a:t>What to do </a:t>
            </a:r>
            <a:pPr indent="0" marL="0">
              <a:buNone/>
            </a:pPr>
            <a:r>
              <a:rPr lang="en-US" sz="4200" b="1" i="1" dirty="0">
                <a:solidFill>
                  <a:srgbClr val="F0994A"/>
                </a:solidFill>
                <a:latin typeface="Cambria" pitchFamily="34" charset="0"/>
                <a:ea typeface="Cambria" pitchFamily="34" charset="-122"/>
                <a:cs typeface="Cambria" pitchFamily="34" charset="-120"/>
              </a:rPr>
              <a:t>right now.</a:t>
            </a:r>
            <a:endParaRPr lang="en-US" sz="4200" dirty="0"/>
          </a:p>
        </p:txBody>
      </p:sp>
      <p:sp>
        <p:nvSpPr>
          <p:cNvPr id="5" name="Text 3"/>
          <p:cNvSpPr/>
          <p:nvPr/>
        </p:nvSpPr>
        <p:spPr>
          <a:xfrm>
            <a:off x="731520" y="196596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01</a:t>
            </a:r>
            <a:endParaRPr lang="en-US" sz="2600" dirty="0"/>
          </a:p>
        </p:txBody>
      </p:sp>
      <p:sp>
        <p:nvSpPr>
          <p:cNvPr id="6" name="Text 4"/>
          <p:cNvSpPr/>
          <p:nvPr/>
        </p:nvSpPr>
        <p:spPr>
          <a:xfrm>
            <a:off x="1463040" y="194767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Stay on Free until first real ₹</a:t>
            </a:r>
            <a:endParaRPr lang="en-US" sz="1500" dirty="0"/>
          </a:p>
        </p:txBody>
      </p:sp>
      <p:sp>
        <p:nvSpPr>
          <p:cNvPr id="7" name="Text 5"/>
          <p:cNvSpPr/>
          <p:nvPr/>
        </p:nvSpPr>
        <p:spPr>
          <a:xfrm>
            <a:off x="5212080" y="196596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You're at 1–3 CCU today. Don't pay for headroom you're not using. Upgrade the day you take your first real customer order.</a:t>
            </a:r>
            <a:endParaRPr lang="en-US" sz="1200" dirty="0"/>
          </a:p>
        </p:txBody>
      </p:sp>
      <p:sp>
        <p:nvSpPr>
          <p:cNvPr id="8" name="Text 6"/>
          <p:cNvSpPr/>
          <p:nvPr/>
        </p:nvSpPr>
        <p:spPr>
          <a:xfrm>
            <a:off x="731520" y="274320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02</a:t>
            </a:r>
            <a:endParaRPr lang="en-US" sz="2600" dirty="0"/>
          </a:p>
        </p:txBody>
      </p:sp>
      <p:sp>
        <p:nvSpPr>
          <p:cNvPr id="9" name="Text 7"/>
          <p:cNvSpPr/>
          <p:nvPr/>
        </p:nvSpPr>
        <p:spPr>
          <a:xfrm>
            <a:off x="1463040" y="272491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Move to Starter on Day-One-of-selling</a:t>
            </a:r>
            <a:endParaRPr lang="en-US" sz="1500" dirty="0"/>
          </a:p>
        </p:txBody>
      </p:sp>
      <p:sp>
        <p:nvSpPr>
          <p:cNvPr id="10" name="Text 8"/>
          <p:cNvSpPr/>
          <p:nvPr/>
        </p:nvSpPr>
        <p:spPr>
          <a:xfrm>
            <a:off x="5212080" y="274320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₹1,180/mo buys you always-on service, no 60-second cold starts. Non-negotiable once revenue starts.</a:t>
            </a:r>
            <a:endParaRPr lang="en-US" sz="1200" dirty="0"/>
          </a:p>
        </p:txBody>
      </p:sp>
      <p:sp>
        <p:nvSpPr>
          <p:cNvPr id="11" name="Text 9"/>
          <p:cNvSpPr/>
          <p:nvPr/>
        </p:nvSpPr>
        <p:spPr>
          <a:xfrm>
            <a:off x="731520" y="352044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03</a:t>
            </a:r>
            <a:endParaRPr lang="en-US" sz="2600" dirty="0"/>
          </a:p>
        </p:txBody>
      </p:sp>
      <p:sp>
        <p:nvSpPr>
          <p:cNvPr id="12" name="Text 10"/>
          <p:cNvSpPr/>
          <p:nvPr/>
        </p:nvSpPr>
        <p:spPr>
          <a:xfrm>
            <a:off x="1463040" y="350215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Set up UptimeRobot today (free)</a:t>
            </a:r>
            <a:endParaRPr lang="en-US" sz="1500" dirty="0"/>
          </a:p>
        </p:txBody>
      </p:sp>
      <p:sp>
        <p:nvSpPr>
          <p:cNvPr id="13" name="Text 11"/>
          <p:cNvSpPr/>
          <p:nvPr/>
        </p:nvSpPr>
        <p:spPr>
          <a:xfrm>
            <a:off x="5212080" y="352044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Ping /api/health every 5 min. You get downtime alerts to Telegram/email + a clean SLA number to show anyone who asks.</a:t>
            </a:r>
            <a:endParaRPr lang="en-US" sz="1200" dirty="0"/>
          </a:p>
        </p:txBody>
      </p:sp>
      <p:sp>
        <p:nvSpPr>
          <p:cNvPr id="14" name="Text 12"/>
          <p:cNvSpPr/>
          <p:nvPr/>
        </p:nvSpPr>
        <p:spPr>
          <a:xfrm>
            <a:off x="731520" y="429768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04</a:t>
            </a:r>
            <a:endParaRPr lang="en-US" sz="2600" dirty="0"/>
          </a:p>
        </p:txBody>
      </p:sp>
      <p:sp>
        <p:nvSpPr>
          <p:cNvPr id="15" name="Text 13"/>
          <p:cNvSpPr/>
          <p:nvPr/>
        </p:nvSpPr>
        <p:spPr>
          <a:xfrm>
            <a:off x="1463040" y="427939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Add caching before hardware</a:t>
            </a:r>
            <a:endParaRPr lang="en-US" sz="1500" dirty="0"/>
          </a:p>
        </p:txBody>
      </p:sp>
      <p:sp>
        <p:nvSpPr>
          <p:cNvPr id="16" name="Text 14"/>
          <p:cNvSpPr/>
          <p:nvPr/>
        </p:nvSpPr>
        <p:spPr>
          <a:xfrm>
            <a:off x="5212080" y="429768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60-sec cache on /api/products and /api/reels cuts backend load 5–10×. Cheaper than any tier upgrade.</a:t>
            </a:r>
            <a:endParaRPr lang="en-US" sz="1200" dirty="0"/>
          </a:p>
        </p:txBody>
      </p:sp>
      <p:sp>
        <p:nvSpPr>
          <p:cNvPr id="17" name="Text 15"/>
          <p:cNvSpPr/>
          <p:nvPr/>
        </p:nvSpPr>
        <p:spPr>
          <a:xfrm>
            <a:off x="731520" y="5074920"/>
            <a:ext cx="640080" cy="457200"/>
          </a:xfrm>
          <a:prstGeom prst="rect">
            <a:avLst/>
          </a:prstGeom>
          <a:noFill/>
          <a:ln/>
        </p:spPr>
        <p:txBody>
          <a:bodyPr wrap="square" lIns="0" tIns="0" rIns="0" bIns="0" rtlCol="0" anchor="ctr"/>
          <a:lstStyle/>
          <a:p>
            <a:pPr indent="0" marL="0">
              <a:buNone/>
            </a:pPr>
            <a:r>
              <a:rPr lang="en-US" sz="2600" b="1" i="1" dirty="0">
                <a:solidFill>
                  <a:srgbClr val="F0994A"/>
                </a:solidFill>
                <a:latin typeface="Cambria" pitchFamily="34" charset="0"/>
                <a:ea typeface="Cambria" pitchFamily="34" charset="-122"/>
                <a:cs typeface="Cambria" pitchFamily="34" charset="-120"/>
              </a:rPr>
              <a:t>05</a:t>
            </a:r>
            <a:endParaRPr lang="en-US" sz="2600" dirty="0"/>
          </a:p>
        </p:txBody>
      </p:sp>
      <p:sp>
        <p:nvSpPr>
          <p:cNvPr id="18" name="Text 16"/>
          <p:cNvSpPr/>
          <p:nvPr/>
        </p:nvSpPr>
        <p:spPr>
          <a:xfrm>
            <a:off x="1463040" y="5056632"/>
            <a:ext cx="3657600" cy="365760"/>
          </a:xfrm>
          <a:prstGeom prst="rect">
            <a:avLst/>
          </a:prstGeom>
          <a:noFill/>
          <a:ln/>
        </p:spPr>
        <p:txBody>
          <a:bodyPr wrap="square" lIns="0" tIns="0" rIns="0" bIns="0" rtlCol="0" anchor="ctr"/>
          <a:lstStyle/>
          <a:p>
            <a:pPr indent="0" marL="0">
              <a:buNone/>
            </a:pPr>
            <a:r>
              <a:rPr lang="en-US" sz="1500" b="1" dirty="0">
                <a:solidFill>
                  <a:srgbClr val="F5EDD8"/>
                </a:solidFill>
                <a:latin typeface="Calibri" pitchFamily="34" charset="0"/>
                <a:ea typeface="Calibri" pitchFamily="34" charset="-122"/>
                <a:cs typeface="Calibri" pitchFamily="34" charset="-120"/>
              </a:rPr>
              <a:t>Load-test before Diwali or a big push</a:t>
            </a:r>
            <a:endParaRPr lang="en-US" sz="1500" dirty="0"/>
          </a:p>
        </p:txBody>
      </p:sp>
      <p:sp>
        <p:nvSpPr>
          <p:cNvPr id="19" name="Text 17"/>
          <p:cNvSpPr/>
          <p:nvPr/>
        </p:nvSpPr>
        <p:spPr>
          <a:xfrm>
            <a:off x="5212080" y="5074920"/>
            <a:ext cx="6217920" cy="731520"/>
          </a:xfrm>
          <a:prstGeom prst="rect">
            <a:avLst/>
          </a:prstGeom>
          <a:noFill/>
          <a:ln/>
        </p:spPr>
        <p:txBody>
          <a:bodyPr wrap="square" lIns="0" tIns="0" rIns="0" bIns="0" rtlCol="0" anchor="ctr"/>
          <a:lstStyle/>
          <a:p>
            <a:pPr indent="0" marL="0">
              <a:buNone/>
            </a:pPr>
            <a:r>
              <a:rPr lang="en-US" sz="1200" dirty="0">
                <a:solidFill>
                  <a:srgbClr val="CFC5AC"/>
                </a:solidFill>
                <a:latin typeface="Calibri" pitchFamily="34" charset="0"/>
                <a:ea typeface="Calibri" pitchFamily="34" charset="-122"/>
                <a:cs typeface="Calibri" pitchFamily="34" charset="-120"/>
              </a:rPr>
              <a:t>50 fake concurrent orders in 5 minutes with k6 or wrk. Tells you exactly what your tier can take before you spend on ads.</a:t>
            </a:r>
            <a:endParaRPr lang="en-US" sz="1200" dirty="0"/>
          </a:p>
        </p:txBody>
      </p:sp>
      <p:sp>
        <p:nvSpPr>
          <p:cNvPr id="20" name="Shape 18"/>
          <p:cNvSpPr/>
          <p:nvPr/>
        </p:nvSpPr>
        <p:spPr>
          <a:xfrm>
            <a:off x="731520" y="6126480"/>
            <a:ext cx="10698480" cy="457200"/>
          </a:xfrm>
          <a:prstGeom prst="roundRect">
            <a:avLst>
              <a:gd name="adj" fmla="val 20000"/>
            </a:avLst>
          </a:prstGeom>
          <a:solidFill>
            <a:srgbClr val="1A2E48"/>
          </a:solidFill>
          <a:ln w="12700">
            <a:solidFill>
              <a:srgbClr val="F0994A"/>
            </a:solidFill>
            <a:prstDash val="solid"/>
          </a:ln>
        </p:spPr>
      </p:sp>
      <p:sp>
        <p:nvSpPr>
          <p:cNvPr id="21" name="Text 19"/>
          <p:cNvSpPr/>
          <p:nvPr/>
        </p:nvSpPr>
        <p:spPr>
          <a:xfrm>
            <a:off x="960120" y="6144768"/>
            <a:ext cx="10424160" cy="420624"/>
          </a:xfrm>
          <a:prstGeom prst="rect">
            <a:avLst/>
          </a:prstGeom>
          <a:noFill/>
          <a:ln/>
        </p:spPr>
        <p:txBody>
          <a:bodyPr wrap="square" lIns="0" tIns="0" rIns="0" bIns="0" rtlCol="0" anchor="ctr"/>
          <a:lstStyle/>
          <a:p>
            <a:pPr indent="0" marL="0">
              <a:buNone/>
            </a:pPr>
            <a:r>
              <a:rPr lang="en-US" sz="1400" b="1" i="1" dirty="0">
                <a:solidFill>
                  <a:srgbClr val="F0994A"/>
                </a:solidFill>
                <a:latin typeface="Cambria" pitchFamily="34" charset="0"/>
                <a:ea typeface="Cambria" pitchFamily="34" charset="-122"/>
                <a:cs typeface="Cambria" pitchFamily="34" charset="-120"/>
              </a:rPr>
              <a:t>The math is on your side. </a:t>
            </a:r>
            <a:pPr indent="0" marL="0">
              <a:buNone/>
            </a:pPr>
            <a:r>
              <a:rPr lang="en-US" sz="1400" dirty="0">
                <a:solidFill>
                  <a:srgbClr val="F5EDD8"/>
                </a:solidFill>
                <a:latin typeface="Cambria" pitchFamily="34" charset="0"/>
                <a:ea typeface="Cambria" pitchFamily="34" charset="-122"/>
                <a:cs typeface="Cambria" pitchFamily="34" charset="-120"/>
              </a:rPr>
              <a:t>You'll be profitable per order long before infra costs matter.</a:t>
            </a:r>
            <a:endParaRPr lang="en-US" sz="1400" dirty="0"/>
          </a:p>
        </p:txBody>
      </p:sp>
      <p:sp>
        <p:nvSpPr>
          <p:cNvPr id="22" name="Text 20"/>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23" name="Text 21"/>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15 / 16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520"/>
        </a:solidFill>
      </p:bgPr>
    </p:bg>
    <p:spTree>
      <p:nvGrpSpPr>
        <p:cNvPr id="1" name=""/>
        <p:cNvGrpSpPr/>
        <p:nvPr/>
      </p:nvGrpSpPr>
      <p:grpSpPr>
        <a:xfrm>
          <a:off x="0" y="0"/>
          <a:ext cx="0" cy="0"/>
          <a:chOff x="0" y="0"/>
          <a:chExt cx="0" cy="0"/>
        </a:xfrm>
      </p:grpSpPr>
      <p:sp>
        <p:nvSpPr>
          <p:cNvPr id="2" name="Text 0"/>
          <p:cNvSpPr/>
          <p:nvPr/>
        </p:nvSpPr>
        <p:spPr>
          <a:xfrm>
            <a:off x="731520" y="640080"/>
            <a:ext cx="7315200" cy="256032"/>
          </a:xfrm>
          <a:prstGeom prst="rect">
            <a:avLst/>
          </a:prstGeom>
          <a:noFill/>
          <a:ln/>
        </p:spPr>
        <p:txBody>
          <a:bodyPr wrap="square" lIns="0" tIns="0" rIns="0" bIns="0" rtlCol="0" anchor="ctr"/>
          <a:lstStyle/>
          <a:p>
            <a:pPr indent="0" marL="0">
              <a:buNone/>
            </a:pPr>
            <a:r>
              <a:rPr lang="en-US" sz="1100" b="1" spc="400" kern="0" dirty="0">
                <a:solidFill>
                  <a:srgbClr val="F0994A"/>
                </a:solidFill>
                <a:latin typeface="Calibri" pitchFamily="34" charset="0"/>
                <a:ea typeface="Calibri" pitchFamily="34" charset="-122"/>
                <a:cs typeface="Calibri" pitchFamily="34" charset="-120"/>
              </a:rPr>
              <a:t>— Appendix  ·  CCU reference</a:t>
            </a:r>
            <a:endParaRPr lang="en-US" sz="1100" dirty="0"/>
          </a:p>
        </p:txBody>
      </p:sp>
      <p:sp>
        <p:nvSpPr>
          <p:cNvPr id="3" name="Text 1"/>
          <p:cNvSpPr/>
          <p:nvPr/>
        </p:nvSpPr>
        <p:spPr>
          <a:xfrm>
            <a:off x="731520" y="1005840"/>
            <a:ext cx="10972800" cy="868680"/>
          </a:xfrm>
          <a:prstGeom prst="rect">
            <a:avLst/>
          </a:prstGeom>
          <a:noFill/>
          <a:ln/>
        </p:spPr>
        <p:txBody>
          <a:bodyPr wrap="square" lIns="0" tIns="0" rIns="0" bIns="0" rtlCol="0" anchor="ctr"/>
          <a:lstStyle/>
          <a:p>
            <a:pPr indent="0" marL="0">
              <a:buNone/>
            </a:pPr>
            <a:r>
              <a:rPr lang="en-US" sz="4000" b="1" dirty="0">
                <a:solidFill>
                  <a:srgbClr val="F5EDD8"/>
                </a:solidFill>
                <a:latin typeface="Cambria" pitchFamily="34" charset="0"/>
                <a:ea typeface="Cambria" pitchFamily="34" charset="-122"/>
                <a:cs typeface="Cambria" pitchFamily="34" charset="-120"/>
              </a:rPr>
              <a:t>The full </a:t>
            </a:r>
            <a:pPr indent="0" marL="0">
              <a:buNone/>
            </a:pPr>
            <a:r>
              <a:rPr lang="en-US" sz="4000" b="1" i="1" dirty="0">
                <a:solidFill>
                  <a:srgbClr val="F0994A"/>
                </a:solidFill>
                <a:latin typeface="Cambria" pitchFamily="34" charset="0"/>
                <a:ea typeface="Cambria" pitchFamily="34" charset="-122"/>
                <a:cs typeface="Cambria" pitchFamily="34" charset="-120"/>
              </a:rPr>
              <a:t>CCU mapping.</a:t>
            </a:r>
            <a:endParaRPr lang="en-US" sz="4000" dirty="0"/>
          </a:p>
        </p:txBody>
      </p:sp>
      <p:sp>
        <p:nvSpPr>
          <p:cNvPr id="4" name="Text 2"/>
          <p:cNvSpPr/>
          <p:nvPr/>
        </p:nvSpPr>
        <p:spPr>
          <a:xfrm>
            <a:off x="731520" y="1920240"/>
            <a:ext cx="10515600" cy="640080"/>
          </a:xfrm>
          <a:prstGeom prst="rect">
            <a:avLst/>
          </a:prstGeom>
          <a:noFill/>
          <a:ln/>
        </p:spPr>
        <p:txBody>
          <a:bodyPr wrap="square" lIns="0" tIns="0" rIns="0" bIns="0" rtlCol="0" anchor="ctr"/>
          <a:lstStyle/>
          <a:p>
            <a:pPr indent="0" marL="0">
              <a:buNone/>
            </a:pPr>
            <a:r>
              <a:rPr lang="en-US" sz="1300" dirty="0">
                <a:solidFill>
                  <a:srgbClr val="CFC5AC"/>
                </a:solidFill>
                <a:latin typeface="Cambria" pitchFamily="34" charset="0"/>
                <a:ea typeface="Cambria" pitchFamily="34" charset="-122"/>
                <a:cs typeface="Cambria" pitchFamily="34" charset="-120"/>
              </a:rPr>
              <a:t>Look up any CCU level → orders, messages, and tier thresholds. Assumes ~150 daily visitors per CCU, 1 % cart conversion, and ~4.5 messages sent per order (2.4 emails + 1 SMS + 1 WhatsApp).</a:t>
            </a:r>
            <a:endParaRPr lang="en-US" sz="1300" dirty="0"/>
          </a:p>
        </p:txBody>
      </p:sp>
      <p:sp>
        <p:nvSpPr>
          <p:cNvPr id="5" name="Shape 3"/>
          <p:cNvSpPr/>
          <p:nvPr/>
        </p:nvSpPr>
        <p:spPr>
          <a:xfrm>
            <a:off x="731520" y="2697480"/>
            <a:ext cx="10698480" cy="365760"/>
          </a:xfrm>
          <a:prstGeom prst="rect">
            <a:avLst/>
          </a:prstGeom>
          <a:solidFill>
            <a:srgbClr val="1A2E48"/>
          </a:solidFill>
          <a:ln w="6350">
            <a:solidFill>
              <a:srgbClr val="2A3F5A"/>
            </a:solidFill>
            <a:prstDash val="solid"/>
          </a:ln>
        </p:spPr>
      </p:sp>
      <p:sp>
        <p:nvSpPr>
          <p:cNvPr id="6" name="Text 4"/>
          <p:cNvSpPr/>
          <p:nvPr/>
        </p:nvSpPr>
        <p:spPr>
          <a:xfrm>
            <a:off x="822960" y="2697480"/>
            <a:ext cx="86868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CCU</a:t>
            </a:r>
            <a:endParaRPr lang="en-US" sz="1100" dirty="0"/>
          </a:p>
        </p:txBody>
      </p:sp>
      <p:sp>
        <p:nvSpPr>
          <p:cNvPr id="7" name="Text 5"/>
          <p:cNvSpPr/>
          <p:nvPr/>
        </p:nvSpPr>
        <p:spPr>
          <a:xfrm>
            <a:off x="1828800" y="2697480"/>
            <a:ext cx="141732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Daily visitors</a:t>
            </a:r>
            <a:endParaRPr lang="en-US" sz="1100" dirty="0"/>
          </a:p>
        </p:txBody>
      </p:sp>
      <p:sp>
        <p:nvSpPr>
          <p:cNvPr id="8" name="Text 6"/>
          <p:cNvSpPr/>
          <p:nvPr/>
        </p:nvSpPr>
        <p:spPr>
          <a:xfrm>
            <a:off x="3383280" y="2697480"/>
            <a:ext cx="150876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Monthly orders</a:t>
            </a:r>
            <a:endParaRPr lang="en-US" sz="1100" dirty="0"/>
          </a:p>
        </p:txBody>
      </p:sp>
      <p:sp>
        <p:nvSpPr>
          <p:cNvPr id="9" name="Text 7"/>
          <p:cNvSpPr/>
          <p:nvPr/>
        </p:nvSpPr>
        <p:spPr>
          <a:xfrm>
            <a:off x="5029200" y="2697480"/>
            <a:ext cx="141732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Emails / mo</a:t>
            </a:r>
            <a:endParaRPr lang="en-US" sz="1100" dirty="0"/>
          </a:p>
        </p:txBody>
      </p:sp>
      <p:sp>
        <p:nvSpPr>
          <p:cNvPr id="10" name="Text 8"/>
          <p:cNvSpPr/>
          <p:nvPr/>
        </p:nvSpPr>
        <p:spPr>
          <a:xfrm>
            <a:off x="6583680" y="2697480"/>
            <a:ext cx="123444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SMS / mo</a:t>
            </a:r>
            <a:endParaRPr lang="en-US" sz="1100" dirty="0"/>
          </a:p>
        </p:txBody>
      </p:sp>
      <p:sp>
        <p:nvSpPr>
          <p:cNvPr id="11" name="Text 9"/>
          <p:cNvSpPr/>
          <p:nvPr/>
        </p:nvSpPr>
        <p:spPr>
          <a:xfrm>
            <a:off x="7955280" y="2697480"/>
            <a:ext cx="160020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WhatsApp / mo</a:t>
            </a:r>
            <a:endParaRPr lang="en-US" sz="1100" dirty="0"/>
          </a:p>
        </p:txBody>
      </p:sp>
      <p:sp>
        <p:nvSpPr>
          <p:cNvPr id="12" name="Text 10"/>
          <p:cNvSpPr/>
          <p:nvPr/>
        </p:nvSpPr>
        <p:spPr>
          <a:xfrm>
            <a:off x="9692640" y="2697480"/>
            <a:ext cx="1691640" cy="365760"/>
          </a:xfrm>
          <a:prstGeom prst="rect">
            <a:avLst/>
          </a:prstGeom>
          <a:noFill/>
          <a:ln/>
        </p:spPr>
        <p:txBody>
          <a:bodyPr wrap="square" lIns="0" tIns="0" rIns="0" bIns="0" rtlCol="0" anchor="ctr"/>
          <a:lstStyle/>
          <a:p>
            <a:pPr indent="0" marL="0">
              <a:buNone/>
            </a:pPr>
            <a:r>
              <a:rPr lang="en-US" sz="1100" b="1" spc="200" kern="0" dirty="0">
                <a:solidFill>
                  <a:srgbClr val="F0994A"/>
                </a:solidFill>
                <a:latin typeface="Calibri" pitchFamily="34" charset="0"/>
                <a:ea typeface="Calibri" pitchFamily="34" charset="-122"/>
                <a:cs typeface="Calibri" pitchFamily="34" charset="-120"/>
              </a:rPr>
              <a:t>Total msgs / mo</a:t>
            </a:r>
            <a:endParaRPr lang="en-US" sz="1100" dirty="0"/>
          </a:p>
        </p:txBody>
      </p:sp>
      <p:sp>
        <p:nvSpPr>
          <p:cNvPr id="13" name="Shape 11"/>
          <p:cNvSpPr/>
          <p:nvPr/>
        </p:nvSpPr>
        <p:spPr>
          <a:xfrm>
            <a:off x="731520" y="3063240"/>
            <a:ext cx="10698480" cy="320040"/>
          </a:xfrm>
          <a:prstGeom prst="rect">
            <a:avLst/>
          </a:prstGeom>
          <a:solidFill>
            <a:srgbClr val="14263F"/>
          </a:solidFill>
          <a:ln w="3810">
            <a:solidFill>
              <a:srgbClr val="2A3F5A"/>
            </a:solidFill>
            <a:prstDash val="solid"/>
          </a:ln>
        </p:spPr>
      </p:sp>
      <p:sp>
        <p:nvSpPr>
          <p:cNvPr id="14" name="Text 12"/>
          <p:cNvSpPr/>
          <p:nvPr/>
        </p:nvSpPr>
        <p:spPr>
          <a:xfrm>
            <a:off x="822960" y="306324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1</a:t>
            </a:r>
            <a:endParaRPr lang="en-US" sz="1100" dirty="0"/>
          </a:p>
        </p:txBody>
      </p:sp>
      <p:sp>
        <p:nvSpPr>
          <p:cNvPr id="15" name="Text 13"/>
          <p:cNvSpPr/>
          <p:nvPr/>
        </p:nvSpPr>
        <p:spPr>
          <a:xfrm>
            <a:off x="1828800" y="306324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150</a:t>
            </a:r>
            <a:endParaRPr lang="en-US" sz="1100" dirty="0"/>
          </a:p>
        </p:txBody>
      </p:sp>
      <p:sp>
        <p:nvSpPr>
          <p:cNvPr id="16" name="Text 14"/>
          <p:cNvSpPr/>
          <p:nvPr/>
        </p:nvSpPr>
        <p:spPr>
          <a:xfrm>
            <a:off x="3383280" y="306324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a:t>
            </a:r>
            <a:endParaRPr lang="en-US" sz="1100" dirty="0"/>
          </a:p>
        </p:txBody>
      </p:sp>
      <p:sp>
        <p:nvSpPr>
          <p:cNvPr id="17" name="Text 15"/>
          <p:cNvSpPr/>
          <p:nvPr/>
        </p:nvSpPr>
        <p:spPr>
          <a:xfrm>
            <a:off x="5029200" y="306324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108</a:t>
            </a:r>
            <a:endParaRPr lang="en-US" sz="1100" dirty="0"/>
          </a:p>
        </p:txBody>
      </p:sp>
      <p:sp>
        <p:nvSpPr>
          <p:cNvPr id="18" name="Text 16"/>
          <p:cNvSpPr/>
          <p:nvPr/>
        </p:nvSpPr>
        <p:spPr>
          <a:xfrm>
            <a:off x="6583680" y="306324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a:t>
            </a:r>
            <a:endParaRPr lang="en-US" sz="1100" dirty="0"/>
          </a:p>
        </p:txBody>
      </p:sp>
      <p:sp>
        <p:nvSpPr>
          <p:cNvPr id="19" name="Text 17"/>
          <p:cNvSpPr/>
          <p:nvPr/>
        </p:nvSpPr>
        <p:spPr>
          <a:xfrm>
            <a:off x="7955280" y="306324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a:t>
            </a:r>
            <a:endParaRPr lang="en-US" sz="1100" dirty="0"/>
          </a:p>
        </p:txBody>
      </p:sp>
      <p:sp>
        <p:nvSpPr>
          <p:cNvPr id="20" name="Text 18"/>
          <p:cNvSpPr/>
          <p:nvPr/>
        </p:nvSpPr>
        <p:spPr>
          <a:xfrm>
            <a:off x="9692640" y="306324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198</a:t>
            </a:r>
            <a:endParaRPr lang="en-US" sz="1100" dirty="0"/>
          </a:p>
        </p:txBody>
      </p:sp>
      <p:sp>
        <p:nvSpPr>
          <p:cNvPr id="21" name="Shape 19"/>
          <p:cNvSpPr/>
          <p:nvPr/>
        </p:nvSpPr>
        <p:spPr>
          <a:xfrm>
            <a:off x="731520" y="3383280"/>
            <a:ext cx="10698480" cy="320040"/>
          </a:xfrm>
          <a:prstGeom prst="rect">
            <a:avLst/>
          </a:prstGeom>
          <a:solidFill>
            <a:srgbClr val="0B1520"/>
          </a:solidFill>
          <a:ln w="3810">
            <a:solidFill>
              <a:srgbClr val="2A3F5A"/>
            </a:solidFill>
            <a:prstDash val="solid"/>
          </a:ln>
        </p:spPr>
      </p:sp>
      <p:sp>
        <p:nvSpPr>
          <p:cNvPr id="22" name="Text 20"/>
          <p:cNvSpPr/>
          <p:nvPr/>
        </p:nvSpPr>
        <p:spPr>
          <a:xfrm>
            <a:off x="822960" y="338328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828800" y="338328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750</a:t>
            </a:r>
            <a:endParaRPr lang="en-US" sz="1100" dirty="0"/>
          </a:p>
        </p:txBody>
      </p:sp>
      <p:sp>
        <p:nvSpPr>
          <p:cNvPr id="24" name="Text 22"/>
          <p:cNvSpPr/>
          <p:nvPr/>
        </p:nvSpPr>
        <p:spPr>
          <a:xfrm>
            <a:off x="3383280" y="338328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a:t>
            </a:r>
            <a:endParaRPr lang="en-US" sz="1100" dirty="0"/>
          </a:p>
        </p:txBody>
      </p:sp>
      <p:sp>
        <p:nvSpPr>
          <p:cNvPr id="25" name="Text 23"/>
          <p:cNvSpPr/>
          <p:nvPr/>
        </p:nvSpPr>
        <p:spPr>
          <a:xfrm>
            <a:off x="5029200" y="338328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540</a:t>
            </a:r>
            <a:endParaRPr lang="en-US" sz="1100" dirty="0"/>
          </a:p>
        </p:txBody>
      </p:sp>
      <p:sp>
        <p:nvSpPr>
          <p:cNvPr id="26" name="Text 24"/>
          <p:cNvSpPr/>
          <p:nvPr/>
        </p:nvSpPr>
        <p:spPr>
          <a:xfrm>
            <a:off x="6583680" y="338328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a:t>
            </a:r>
            <a:endParaRPr lang="en-US" sz="1100" dirty="0"/>
          </a:p>
        </p:txBody>
      </p:sp>
      <p:sp>
        <p:nvSpPr>
          <p:cNvPr id="27" name="Text 25"/>
          <p:cNvSpPr/>
          <p:nvPr/>
        </p:nvSpPr>
        <p:spPr>
          <a:xfrm>
            <a:off x="7955280" y="338328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a:t>
            </a:r>
            <a:endParaRPr lang="en-US" sz="1100" dirty="0"/>
          </a:p>
        </p:txBody>
      </p:sp>
      <p:sp>
        <p:nvSpPr>
          <p:cNvPr id="28" name="Text 26"/>
          <p:cNvSpPr/>
          <p:nvPr/>
        </p:nvSpPr>
        <p:spPr>
          <a:xfrm>
            <a:off x="9692640" y="338328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990</a:t>
            </a:r>
            <a:endParaRPr lang="en-US" sz="1100" dirty="0"/>
          </a:p>
        </p:txBody>
      </p:sp>
      <p:sp>
        <p:nvSpPr>
          <p:cNvPr id="29" name="Shape 27"/>
          <p:cNvSpPr/>
          <p:nvPr/>
        </p:nvSpPr>
        <p:spPr>
          <a:xfrm>
            <a:off x="731520" y="3703320"/>
            <a:ext cx="10698480" cy="320040"/>
          </a:xfrm>
          <a:prstGeom prst="rect">
            <a:avLst/>
          </a:prstGeom>
          <a:solidFill>
            <a:srgbClr val="14263F"/>
          </a:solidFill>
          <a:ln w="3810">
            <a:solidFill>
              <a:srgbClr val="2A3F5A"/>
            </a:solidFill>
            <a:prstDash val="solid"/>
          </a:ln>
        </p:spPr>
      </p:sp>
      <p:sp>
        <p:nvSpPr>
          <p:cNvPr id="30" name="Text 28"/>
          <p:cNvSpPr/>
          <p:nvPr/>
        </p:nvSpPr>
        <p:spPr>
          <a:xfrm>
            <a:off x="822960" y="370332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10</a:t>
            </a:r>
            <a:endParaRPr lang="en-US" sz="1100" dirty="0"/>
          </a:p>
        </p:txBody>
      </p:sp>
      <p:sp>
        <p:nvSpPr>
          <p:cNvPr id="31" name="Text 29"/>
          <p:cNvSpPr/>
          <p:nvPr/>
        </p:nvSpPr>
        <p:spPr>
          <a:xfrm>
            <a:off x="1828800" y="370332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1,500</a:t>
            </a:r>
            <a:endParaRPr lang="en-US" sz="1100" dirty="0"/>
          </a:p>
        </p:txBody>
      </p:sp>
      <p:sp>
        <p:nvSpPr>
          <p:cNvPr id="32" name="Text 30"/>
          <p:cNvSpPr/>
          <p:nvPr/>
        </p:nvSpPr>
        <p:spPr>
          <a:xfrm>
            <a:off x="3383280" y="370332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a:t>
            </a:r>
            <a:endParaRPr lang="en-US" sz="1100" dirty="0"/>
          </a:p>
        </p:txBody>
      </p:sp>
      <p:sp>
        <p:nvSpPr>
          <p:cNvPr id="33" name="Text 31"/>
          <p:cNvSpPr/>
          <p:nvPr/>
        </p:nvSpPr>
        <p:spPr>
          <a:xfrm>
            <a:off x="5029200" y="370332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1,080</a:t>
            </a:r>
            <a:endParaRPr lang="en-US" sz="1100" dirty="0"/>
          </a:p>
        </p:txBody>
      </p:sp>
      <p:sp>
        <p:nvSpPr>
          <p:cNvPr id="34" name="Text 32"/>
          <p:cNvSpPr/>
          <p:nvPr/>
        </p:nvSpPr>
        <p:spPr>
          <a:xfrm>
            <a:off x="6583680" y="370332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a:t>
            </a:r>
            <a:endParaRPr lang="en-US" sz="1100" dirty="0"/>
          </a:p>
        </p:txBody>
      </p:sp>
      <p:sp>
        <p:nvSpPr>
          <p:cNvPr id="35" name="Text 33"/>
          <p:cNvSpPr/>
          <p:nvPr/>
        </p:nvSpPr>
        <p:spPr>
          <a:xfrm>
            <a:off x="7955280" y="370332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a:t>
            </a:r>
            <a:endParaRPr lang="en-US" sz="1100" dirty="0"/>
          </a:p>
        </p:txBody>
      </p:sp>
      <p:sp>
        <p:nvSpPr>
          <p:cNvPr id="36" name="Text 34"/>
          <p:cNvSpPr/>
          <p:nvPr/>
        </p:nvSpPr>
        <p:spPr>
          <a:xfrm>
            <a:off x="9692640" y="370332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1,980</a:t>
            </a:r>
            <a:endParaRPr lang="en-US" sz="1100" dirty="0"/>
          </a:p>
        </p:txBody>
      </p:sp>
      <p:sp>
        <p:nvSpPr>
          <p:cNvPr id="37" name="Shape 35"/>
          <p:cNvSpPr/>
          <p:nvPr/>
        </p:nvSpPr>
        <p:spPr>
          <a:xfrm>
            <a:off x="731520" y="4023360"/>
            <a:ext cx="10698480" cy="320040"/>
          </a:xfrm>
          <a:prstGeom prst="rect">
            <a:avLst/>
          </a:prstGeom>
          <a:solidFill>
            <a:srgbClr val="0B1520"/>
          </a:solidFill>
          <a:ln w="3810">
            <a:solidFill>
              <a:srgbClr val="2A3F5A"/>
            </a:solidFill>
            <a:prstDash val="solid"/>
          </a:ln>
        </p:spPr>
      </p:sp>
      <p:sp>
        <p:nvSpPr>
          <p:cNvPr id="38" name="Text 36"/>
          <p:cNvSpPr/>
          <p:nvPr/>
        </p:nvSpPr>
        <p:spPr>
          <a:xfrm>
            <a:off x="822960" y="402336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25</a:t>
            </a:r>
            <a:endParaRPr lang="en-US" sz="1100" dirty="0"/>
          </a:p>
        </p:txBody>
      </p:sp>
      <p:sp>
        <p:nvSpPr>
          <p:cNvPr id="39" name="Text 37"/>
          <p:cNvSpPr/>
          <p:nvPr/>
        </p:nvSpPr>
        <p:spPr>
          <a:xfrm>
            <a:off x="1828800" y="402336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3,750</a:t>
            </a:r>
            <a:endParaRPr lang="en-US" sz="1100" dirty="0"/>
          </a:p>
        </p:txBody>
      </p:sp>
      <p:sp>
        <p:nvSpPr>
          <p:cNvPr id="40" name="Text 38"/>
          <p:cNvSpPr/>
          <p:nvPr/>
        </p:nvSpPr>
        <p:spPr>
          <a:xfrm>
            <a:off x="3383280" y="402336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1,125</a:t>
            </a:r>
            <a:endParaRPr lang="en-US" sz="1100" dirty="0"/>
          </a:p>
        </p:txBody>
      </p:sp>
      <p:sp>
        <p:nvSpPr>
          <p:cNvPr id="41" name="Text 39"/>
          <p:cNvSpPr/>
          <p:nvPr/>
        </p:nvSpPr>
        <p:spPr>
          <a:xfrm>
            <a:off x="5029200" y="402336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2,700</a:t>
            </a:r>
            <a:endParaRPr lang="en-US" sz="1100" dirty="0"/>
          </a:p>
        </p:txBody>
      </p:sp>
      <p:sp>
        <p:nvSpPr>
          <p:cNvPr id="42" name="Text 40"/>
          <p:cNvSpPr/>
          <p:nvPr/>
        </p:nvSpPr>
        <p:spPr>
          <a:xfrm>
            <a:off x="6583680" y="402336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1,125</a:t>
            </a:r>
            <a:endParaRPr lang="en-US" sz="1100" dirty="0"/>
          </a:p>
        </p:txBody>
      </p:sp>
      <p:sp>
        <p:nvSpPr>
          <p:cNvPr id="43" name="Text 41"/>
          <p:cNvSpPr/>
          <p:nvPr/>
        </p:nvSpPr>
        <p:spPr>
          <a:xfrm>
            <a:off x="7955280" y="402336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1,125</a:t>
            </a:r>
            <a:endParaRPr lang="en-US" sz="1100" dirty="0"/>
          </a:p>
        </p:txBody>
      </p:sp>
      <p:sp>
        <p:nvSpPr>
          <p:cNvPr id="44" name="Text 42"/>
          <p:cNvSpPr/>
          <p:nvPr/>
        </p:nvSpPr>
        <p:spPr>
          <a:xfrm>
            <a:off x="9692640" y="402336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4,950</a:t>
            </a:r>
            <a:endParaRPr lang="en-US" sz="1100" dirty="0"/>
          </a:p>
        </p:txBody>
      </p:sp>
      <p:sp>
        <p:nvSpPr>
          <p:cNvPr id="45" name="Shape 43"/>
          <p:cNvSpPr/>
          <p:nvPr/>
        </p:nvSpPr>
        <p:spPr>
          <a:xfrm>
            <a:off x="731520" y="4343400"/>
            <a:ext cx="10698480" cy="320040"/>
          </a:xfrm>
          <a:prstGeom prst="rect">
            <a:avLst/>
          </a:prstGeom>
          <a:solidFill>
            <a:srgbClr val="14263F"/>
          </a:solidFill>
          <a:ln w="3810">
            <a:solidFill>
              <a:srgbClr val="2A3F5A"/>
            </a:solidFill>
            <a:prstDash val="solid"/>
          </a:ln>
        </p:spPr>
      </p:sp>
      <p:sp>
        <p:nvSpPr>
          <p:cNvPr id="46" name="Text 44"/>
          <p:cNvSpPr/>
          <p:nvPr/>
        </p:nvSpPr>
        <p:spPr>
          <a:xfrm>
            <a:off x="822960" y="434340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30 ⚠</a:t>
            </a:r>
            <a:endParaRPr lang="en-US" sz="1100" dirty="0"/>
          </a:p>
        </p:txBody>
      </p:sp>
      <p:sp>
        <p:nvSpPr>
          <p:cNvPr id="47" name="Text 45"/>
          <p:cNvSpPr/>
          <p:nvPr/>
        </p:nvSpPr>
        <p:spPr>
          <a:xfrm>
            <a:off x="1828800" y="434340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a:t>
            </a:r>
            <a:endParaRPr lang="en-US" sz="1100" dirty="0"/>
          </a:p>
        </p:txBody>
      </p:sp>
      <p:sp>
        <p:nvSpPr>
          <p:cNvPr id="48" name="Text 46"/>
          <p:cNvSpPr/>
          <p:nvPr/>
        </p:nvSpPr>
        <p:spPr>
          <a:xfrm>
            <a:off x="3383280" y="434340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1,350</a:t>
            </a:r>
            <a:endParaRPr lang="en-US" sz="1100" dirty="0"/>
          </a:p>
        </p:txBody>
      </p:sp>
      <p:sp>
        <p:nvSpPr>
          <p:cNvPr id="49" name="Text 47"/>
          <p:cNvSpPr/>
          <p:nvPr/>
        </p:nvSpPr>
        <p:spPr>
          <a:xfrm>
            <a:off x="5029200" y="4343400"/>
            <a:ext cx="1417320" cy="320040"/>
          </a:xfrm>
          <a:prstGeom prst="rect">
            <a:avLst/>
          </a:prstGeom>
          <a:noFill/>
          <a:ln/>
        </p:spPr>
        <p:txBody>
          <a:bodyPr wrap="square" lIns="0" tIns="0" rIns="0" bIns="0" rtlCol="0" anchor="ctr"/>
          <a:lstStyle/>
          <a:p>
            <a:pPr indent="0" marL="0">
              <a:buNone/>
            </a:pPr>
            <a:r>
              <a:rPr lang="en-US" sz="1100" b="1" dirty="0">
                <a:solidFill>
                  <a:srgbClr val="E28080"/>
                </a:solidFill>
                <a:latin typeface="Calibri" pitchFamily="34" charset="0"/>
                <a:ea typeface="Calibri" pitchFamily="34" charset="-122"/>
                <a:cs typeface="Calibri" pitchFamily="34" charset="-120"/>
              </a:rPr>
              <a:t>3,240 ⚠</a:t>
            </a:r>
            <a:endParaRPr lang="en-US" sz="1100" dirty="0"/>
          </a:p>
        </p:txBody>
      </p:sp>
      <p:sp>
        <p:nvSpPr>
          <p:cNvPr id="50" name="Text 48"/>
          <p:cNvSpPr/>
          <p:nvPr/>
        </p:nvSpPr>
        <p:spPr>
          <a:xfrm>
            <a:off x="6583680" y="434340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1,350</a:t>
            </a:r>
            <a:endParaRPr lang="en-US" sz="1100" dirty="0"/>
          </a:p>
        </p:txBody>
      </p:sp>
      <p:sp>
        <p:nvSpPr>
          <p:cNvPr id="51" name="Text 49"/>
          <p:cNvSpPr/>
          <p:nvPr/>
        </p:nvSpPr>
        <p:spPr>
          <a:xfrm>
            <a:off x="7955280" y="434340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1,350</a:t>
            </a:r>
            <a:endParaRPr lang="en-US" sz="1100" dirty="0"/>
          </a:p>
        </p:txBody>
      </p:sp>
      <p:sp>
        <p:nvSpPr>
          <p:cNvPr id="52" name="Text 50"/>
          <p:cNvSpPr/>
          <p:nvPr/>
        </p:nvSpPr>
        <p:spPr>
          <a:xfrm>
            <a:off x="9692640" y="434340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5,940</a:t>
            </a:r>
            <a:endParaRPr lang="en-US" sz="1100" dirty="0"/>
          </a:p>
        </p:txBody>
      </p:sp>
      <p:sp>
        <p:nvSpPr>
          <p:cNvPr id="53" name="Shape 51"/>
          <p:cNvSpPr/>
          <p:nvPr/>
        </p:nvSpPr>
        <p:spPr>
          <a:xfrm>
            <a:off x="731520" y="4663440"/>
            <a:ext cx="10698480" cy="320040"/>
          </a:xfrm>
          <a:prstGeom prst="rect">
            <a:avLst/>
          </a:prstGeom>
          <a:solidFill>
            <a:srgbClr val="0B1520"/>
          </a:solidFill>
          <a:ln w="3810">
            <a:solidFill>
              <a:srgbClr val="2A3F5A"/>
            </a:solidFill>
            <a:prstDash val="solid"/>
          </a:ln>
        </p:spPr>
      </p:sp>
      <p:sp>
        <p:nvSpPr>
          <p:cNvPr id="54" name="Text 52"/>
          <p:cNvSpPr/>
          <p:nvPr/>
        </p:nvSpPr>
        <p:spPr>
          <a:xfrm>
            <a:off x="822960" y="466344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50</a:t>
            </a:r>
            <a:endParaRPr lang="en-US" sz="1100" dirty="0"/>
          </a:p>
        </p:txBody>
      </p:sp>
      <p:sp>
        <p:nvSpPr>
          <p:cNvPr id="55" name="Text 53"/>
          <p:cNvSpPr/>
          <p:nvPr/>
        </p:nvSpPr>
        <p:spPr>
          <a:xfrm>
            <a:off x="1828800" y="466344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7,500</a:t>
            </a:r>
            <a:endParaRPr lang="en-US" sz="1100" dirty="0"/>
          </a:p>
        </p:txBody>
      </p:sp>
      <p:sp>
        <p:nvSpPr>
          <p:cNvPr id="56" name="Text 54"/>
          <p:cNvSpPr/>
          <p:nvPr/>
        </p:nvSpPr>
        <p:spPr>
          <a:xfrm>
            <a:off x="3383280" y="466344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2,250</a:t>
            </a:r>
            <a:endParaRPr lang="en-US" sz="1100" dirty="0"/>
          </a:p>
        </p:txBody>
      </p:sp>
      <p:sp>
        <p:nvSpPr>
          <p:cNvPr id="57" name="Text 55"/>
          <p:cNvSpPr/>
          <p:nvPr/>
        </p:nvSpPr>
        <p:spPr>
          <a:xfrm>
            <a:off x="5029200" y="466344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5,400</a:t>
            </a:r>
            <a:endParaRPr lang="en-US" sz="1100" dirty="0"/>
          </a:p>
        </p:txBody>
      </p:sp>
      <p:sp>
        <p:nvSpPr>
          <p:cNvPr id="58" name="Text 56"/>
          <p:cNvSpPr/>
          <p:nvPr/>
        </p:nvSpPr>
        <p:spPr>
          <a:xfrm>
            <a:off x="6583680" y="466344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2,250</a:t>
            </a:r>
            <a:endParaRPr lang="en-US" sz="1100" dirty="0"/>
          </a:p>
        </p:txBody>
      </p:sp>
      <p:sp>
        <p:nvSpPr>
          <p:cNvPr id="59" name="Text 57"/>
          <p:cNvSpPr/>
          <p:nvPr/>
        </p:nvSpPr>
        <p:spPr>
          <a:xfrm>
            <a:off x="7955280" y="466344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2,250</a:t>
            </a:r>
            <a:endParaRPr lang="en-US" sz="1100" dirty="0"/>
          </a:p>
        </p:txBody>
      </p:sp>
      <p:sp>
        <p:nvSpPr>
          <p:cNvPr id="60" name="Text 58"/>
          <p:cNvSpPr/>
          <p:nvPr/>
        </p:nvSpPr>
        <p:spPr>
          <a:xfrm>
            <a:off x="9692640" y="466344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9,900</a:t>
            </a:r>
            <a:endParaRPr lang="en-US" sz="1100" dirty="0"/>
          </a:p>
        </p:txBody>
      </p:sp>
      <p:sp>
        <p:nvSpPr>
          <p:cNvPr id="61" name="Shape 59"/>
          <p:cNvSpPr/>
          <p:nvPr/>
        </p:nvSpPr>
        <p:spPr>
          <a:xfrm>
            <a:off x="731520" y="4983480"/>
            <a:ext cx="10698480" cy="320040"/>
          </a:xfrm>
          <a:prstGeom prst="rect">
            <a:avLst/>
          </a:prstGeom>
          <a:solidFill>
            <a:srgbClr val="14263F"/>
          </a:solidFill>
          <a:ln w="3810">
            <a:solidFill>
              <a:srgbClr val="2A3F5A"/>
            </a:solidFill>
            <a:prstDash val="solid"/>
          </a:ln>
        </p:spPr>
      </p:sp>
      <p:sp>
        <p:nvSpPr>
          <p:cNvPr id="62" name="Text 60"/>
          <p:cNvSpPr/>
          <p:nvPr/>
        </p:nvSpPr>
        <p:spPr>
          <a:xfrm>
            <a:off x="822960" y="498348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100</a:t>
            </a:r>
            <a:endParaRPr lang="en-US" sz="1100" dirty="0"/>
          </a:p>
        </p:txBody>
      </p:sp>
      <p:sp>
        <p:nvSpPr>
          <p:cNvPr id="63" name="Text 61"/>
          <p:cNvSpPr/>
          <p:nvPr/>
        </p:nvSpPr>
        <p:spPr>
          <a:xfrm>
            <a:off x="1828800" y="498348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15,000</a:t>
            </a:r>
            <a:endParaRPr lang="en-US" sz="1100" dirty="0"/>
          </a:p>
        </p:txBody>
      </p:sp>
      <p:sp>
        <p:nvSpPr>
          <p:cNvPr id="64" name="Text 62"/>
          <p:cNvSpPr/>
          <p:nvPr/>
        </p:nvSpPr>
        <p:spPr>
          <a:xfrm>
            <a:off x="3383280" y="498348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a:t>
            </a:r>
            <a:endParaRPr lang="en-US" sz="1100" dirty="0"/>
          </a:p>
        </p:txBody>
      </p:sp>
      <p:sp>
        <p:nvSpPr>
          <p:cNvPr id="65" name="Text 63"/>
          <p:cNvSpPr/>
          <p:nvPr/>
        </p:nvSpPr>
        <p:spPr>
          <a:xfrm>
            <a:off x="5029200" y="498348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10,800</a:t>
            </a:r>
            <a:endParaRPr lang="en-US" sz="1100" dirty="0"/>
          </a:p>
        </p:txBody>
      </p:sp>
      <p:sp>
        <p:nvSpPr>
          <p:cNvPr id="66" name="Text 64"/>
          <p:cNvSpPr/>
          <p:nvPr/>
        </p:nvSpPr>
        <p:spPr>
          <a:xfrm>
            <a:off x="6583680" y="498348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a:t>
            </a:r>
            <a:endParaRPr lang="en-US" sz="1100" dirty="0"/>
          </a:p>
        </p:txBody>
      </p:sp>
      <p:sp>
        <p:nvSpPr>
          <p:cNvPr id="67" name="Text 65"/>
          <p:cNvSpPr/>
          <p:nvPr/>
        </p:nvSpPr>
        <p:spPr>
          <a:xfrm>
            <a:off x="7955280" y="498348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a:t>
            </a:r>
            <a:endParaRPr lang="en-US" sz="1100" dirty="0"/>
          </a:p>
        </p:txBody>
      </p:sp>
      <p:sp>
        <p:nvSpPr>
          <p:cNvPr id="68" name="Text 66"/>
          <p:cNvSpPr/>
          <p:nvPr/>
        </p:nvSpPr>
        <p:spPr>
          <a:xfrm>
            <a:off x="9692640" y="498348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19,800</a:t>
            </a:r>
            <a:endParaRPr lang="en-US" sz="1100" dirty="0"/>
          </a:p>
        </p:txBody>
      </p:sp>
      <p:sp>
        <p:nvSpPr>
          <p:cNvPr id="69" name="Shape 67"/>
          <p:cNvSpPr/>
          <p:nvPr/>
        </p:nvSpPr>
        <p:spPr>
          <a:xfrm>
            <a:off x="731520" y="5303520"/>
            <a:ext cx="10698480" cy="320040"/>
          </a:xfrm>
          <a:prstGeom prst="rect">
            <a:avLst/>
          </a:prstGeom>
          <a:solidFill>
            <a:srgbClr val="0B1520"/>
          </a:solidFill>
          <a:ln w="3810">
            <a:solidFill>
              <a:srgbClr val="2A3F5A"/>
            </a:solidFill>
            <a:prstDash val="solid"/>
          </a:ln>
        </p:spPr>
      </p:sp>
      <p:sp>
        <p:nvSpPr>
          <p:cNvPr id="70" name="Text 68"/>
          <p:cNvSpPr/>
          <p:nvPr/>
        </p:nvSpPr>
        <p:spPr>
          <a:xfrm>
            <a:off x="822960" y="530352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200</a:t>
            </a:r>
            <a:endParaRPr lang="en-US" sz="1100" dirty="0"/>
          </a:p>
        </p:txBody>
      </p:sp>
      <p:sp>
        <p:nvSpPr>
          <p:cNvPr id="71" name="Text 69"/>
          <p:cNvSpPr/>
          <p:nvPr/>
        </p:nvSpPr>
        <p:spPr>
          <a:xfrm>
            <a:off x="1828800" y="530352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30,000</a:t>
            </a:r>
            <a:endParaRPr lang="en-US" sz="1100" dirty="0"/>
          </a:p>
        </p:txBody>
      </p:sp>
      <p:sp>
        <p:nvSpPr>
          <p:cNvPr id="72" name="Text 70"/>
          <p:cNvSpPr/>
          <p:nvPr/>
        </p:nvSpPr>
        <p:spPr>
          <a:xfrm>
            <a:off x="3383280" y="530352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9,000</a:t>
            </a:r>
            <a:endParaRPr lang="en-US" sz="1100" dirty="0"/>
          </a:p>
        </p:txBody>
      </p:sp>
      <p:sp>
        <p:nvSpPr>
          <p:cNvPr id="73" name="Text 71"/>
          <p:cNvSpPr/>
          <p:nvPr/>
        </p:nvSpPr>
        <p:spPr>
          <a:xfrm>
            <a:off x="5029200" y="530352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21,600</a:t>
            </a:r>
            <a:endParaRPr lang="en-US" sz="1100" dirty="0"/>
          </a:p>
        </p:txBody>
      </p:sp>
      <p:sp>
        <p:nvSpPr>
          <p:cNvPr id="74" name="Text 72"/>
          <p:cNvSpPr/>
          <p:nvPr/>
        </p:nvSpPr>
        <p:spPr>
          <a:xfrm>
            <a:off x="6583680" y="530352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9,000</a:t>
            </a:r>
            <a:endParaRPr lang="en-US" sz="1100" dirty="0"/>
          </a:p>
        </p:txBody>
      </p:sp>
      <p:sp>
        <p:nvSpPr>
          <p:cNvPr id="75" name="Text 73"/>
          <p:cNvSpPr/>
          <p:nvPr/>
        </p:nvSpPr>
        <p:spPr>
          <a:xfrm>
            <a:off x="7955280" y="530352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9,000</a:t>
            </a:r>
            <a:endParaRPr lang="en-US" sz="1100" dirty="0"/>
          </a:p>
        </p:txBody>
      </p:sp>
      <p:sp>
        <p:nvSpPr>
          <p:cNvPr id="76" name="Text 74"/>
          <p:cNvSpPr/>
          <p:nvPr/>
        </p:nvSpPr>
        <p:spPr>
          <a:xfrm>
            <a:off x="9692640" y="530352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39,600</a:t>
            </a:r>
            <a:endParaRPr lang="en-US" sz="1100" dirty="0"/>
          </a:p>
        </p:txBody>
      </p:sp>
      <p:sp>
        <p:nvSpPr>
          <p:cNvPr id="77" name="Shape 75"/>
          <p:cNvSpPr/>
          <p:nvPr/>
        </p:nvSpPr>
        <p:spPr>
          <a:xfrm>
            <a:off x="731520" y="5623560"/>
            <a:ext cx="10698480" cy="320040"/>
          </a:xfrm>
          <a:prstGeom prst="rect">
            <a:avLst/>
          </a:prstGeom>
          <a:solidFill>
            <a:srgbClr val="14263F"/>
          </a:solidFill>
          <a:ln w="3810">
            <a:solidFill>
              <a:srgbClr val="2A3F5A"/>
            </a:solidFill>
            <a:prstDash val="solid"/>
          </a:ln>
        </p:spPr>
      </p:sp>
      <p:sp>
        <p:nvSpPr>
          <p:cNvPr id="78" name="Text 76"/>
          <p:cNvSpPr/>
          <p:nvPr/>
        </p:nvSpPr>
        <p:spPr>
          <a:xfrm>
            <a:off x="822960" y="562356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500 ⚠</a:t>
            </a:r>
            <a:endParaRPr lang="en-US" sz="1100" dirty="0"/>
          </a:p>
        </p:txBody>
      </p:sp>
      <p:sp>
        <p:nvSpPr>
          <p:cNvPr id="79" name="Text 77"/>
          <p:cNvSpPr/>
          <p:nvPr/>
        </p:nvSpPr>
        <p:spPr>
          <a:xfrm>
            <a:off x="1828800" y="562356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75,000</a:t>
            </a:r>
            <a:endParaRPr lang="en-US" sz="1100" dirty="0"/>
          </a:p>
        </p:txBody>
      </p:sp>
      <p:sp>
        <p:nvSpPr>
          <p:cNvPr id="80" name="Text 78"/>
          <p:cNvSpPr/>
          <p:nvPr/>
        </p:nvSpPr>
        <p:spPr>
          <a:xfrm>
            <a:off x="3383280" y="562356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22,500</a:t>
            </a:r>
            <a:endParaRPr lang="en-US" sz="1100" dirty="0"/>
          </a:p>
        </p:txBody>
      </p:sp>
      <p:sp>
        <p:nvSpPr>
          <p:cNvPr id="81" name="Text 79"/>
          <p:cNvSpPr/>
          <p:nvPr/>
        </p:nvSpPr>
        <p:spPr>
          <a:xfrm>
            <a:off x="5029200" y="5623560"/>
            <a:ext cx="1417320" cy="320040"/>
          </a:xfrm>
          <a:prstGeom prst="rect">
            <a:avLst/>
          </a:prstGeom>
          <a:noFill/>
          <a:ln/>
        </p:spPr>
        <p:txBody>
          <a:bodyPr wrap="square" lIns="0" tIns="0" rIns="0" bIns="0" rtlCol="0" anchor="ctr"/>
          <a:lstStyle/>
          <a:p>
            <a:pPr indent="0" marL="0">
              <a:buNone/>
            </a:pPr>
            <a:r>
              <a:rPr lang="en-US" sz="1100" b="1" dirty="0">
                <a:solidFill>
                  <a:srgbClr val="E28080"/>
                </a:solidFill>
                <a:latin typeface="Calibri" pitchFamily="34" charset="0"/>
                <a:ea typeface="Calibri" pitchFamily="34" charset="-122"/>
                <a:cs typeface="Calibri" pitchFamily="34" charset="-120"/>
              </a:rPr>
              <a:t>54,000 ⚠</a:t>
            </a:r>
            <a:endParaRPr lang="en-US" sz="1100" dirty="0"/>
          </a:p>
        </p:txBody>
      </p:sp>
      <p:sp>
        <p:nvSpPr>
          <p:cNvPr id="82" name="Text 80"/>
          <p:cNvSpPr/>
          <p:nvPr/>
        </p:nvSpPr>
        <p:spPr>
          <a:xfrm>
            <a:off x="6583680" y="562356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22,500</a:t>
            </a:r>
            <a:endParaRPr lang="en-US" sz="1100" dirty="0"/>
          </a:p>
        </p:txBody>
      </p:sp>
      <p:sp>
        <p:nvSpPr>
          <p:cNvPr id="83" name="Text 81"/>
          <p:cNvSpPr/>
          <p:nvPr/>
        </p:nvSpPr>
        <p:spPr>
          <a:xfrm>
            <a:off x="7955280" y="562356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22,500</a:t>
            </a:r>
            <a:endParaRPr lang="en-US" sz="1100" dirty="0"/>
          </a:p>
        </p:txBody>
      </p:sp>
      <p:sp>
        <p:nvSpPr>
          <p:cNvPr id="84" name="Text 82"/>
          <p:cNvSpPr/>
          <p:nvPr/>
        </p:nvSpPr>
        <p:spPr>
          <a:xfrm>
            <a:off x="9692640" y="562356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99,000</a:t>
            </a:r>
            <a:endParaRPr lang="en-US" sz="1100" dirty="0"/>
          </a:p>
        </p:txBody>
      </p:sp>
      <p:sp>
        <p:nvSpPr>
          <p:cNvPr id="85" name="Shape 83"/>
          <p:cNvSpPr/>
          <p:nvPr/>
        </p:nvSpPr>
        <p:spPr>
          <a:xfrm>
            <a:off x="731520" y="5943600"/>
            <a:ext cx="10698480" cy="320040"/>
          </a:xfrm>
          <a:prstGeom prst="rect">
            <a:avLst/>
          </a:prstGeom>
          <a:solidFill>
            <a:srgbClr val="0B1520"/>
          </a:solidFill>
          <a:ln w="3810">
            <a:solidFill>
              <a:srgbClr val="2A3F5A"/>
            </a:solidFill>
            <a:prstDash val="solid"/>
          </a:ln>
        </p:spPr>
      </p:sp>
      <p:sp>
        <p:nvSpPr>
          <p:cNvPr id="86" name="Text 84"/>
          <p:cNvSpPr/>
          <p:nvPr/>
        </p:nvSpPr>
        <p:spPr>
          <a:xfrm>
            <a:off x="822960" y="5943600"/>
            <a:ext cx="868680" cy="320040"/>
          </a:xfrm>
          <a:prstGeom prst="rect">
            <a:avLst/>
          </a:prstGeom>
          <a:noFill/>
          <a:ln/>
        </p:spPr>
        <p:txBody>
          <a:bodyPr wrap="square" lIns="0" tIns="0" rIns="0" bIns="0" rtlCol="0" anchor="ctr"/>
          <a:lstStyle/>
          <a:p>
            <a:pPr indent="0" marL="0">
              <a:buNone/>
            </a:pPr>
            <a:r>
              <a:rPr lang="en-US" sz="1100" b="1" dirty="0">
                <a:solidFill>
                  <a:srgbClr val="F5EDD8"/>
                </a:solidFill>
                <a:latin typeface="Calibri" pitchFamily="34" charset="0"/>
                <a:ea typeface="Calibri" pitchFamily="34" charset="-122"/>
                <a:cs typeface="Calibri" pitchFamily="34" charset="-120"/>
              </a:rPr>
              <a:t>1000</a:t>
            </a:r>
            <a:endParaRPr lang="en-US" sz="1100" dirty="0"/>
          </a:p>
        </p:txBody>
      </p:sp>
      <p:sp>
        <p:nvSpPr>
          <p:cNvPr id="87" name="Text 85"/>
          <p:cNvSpPr/>
          <p:nvPr/>
        </p:nvSpPr>
        <p:spPr>
          <a:xfrm>
            <a:off x="1828800" y="594360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150,000</a:t>
            </a:r>
            <a:endParaRPr lang="en-US" sz="1100" dirty="0"/>
          </a:p>
        </p:txBody>
      </p:sp>
      <p:sp>
        <p:nvSpPr>
          <p:cNvPr id="88" name="Text 86"/>
          <p:cNvSpPr/>
          <p:nvPr/>
        </p:nvSpPr>
        <p:spPr>
          <a:xfrm>
            <a:off x="3383280" y="5943600"/>
            <a:ext cx="150876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45,000</a:t>
            </a:r>
            <a:endParaRPr lang="en-US" sz="1100" dirty="0"/>
          </a:p>
        </p:txBody>
      </p:sp>
      <p:sp>
        <p:nvSpPr>
          <p:cNvPr id="89" name="Text 87"/>
          <p:cNvSpPr/>
          <p:nvPr/>
        </p:nvSpPr>
        <p:spPr>
          <a:xfrm>
            <a:off x="5029200" y="5943600"/>
            <a:ext cx="141732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108,000</a:t>
            </a:r>
            <a:endParaRPr lang="en-US" sz="1100" dirty="0"/>
          </a:p>
        </p:txBody>
      </p:sp>
      <p:sp>
        <p:nvSpPr>
          <p:cNvPr id="90" name="Text 88"/>
          <p:cNvSpPr/>
          <p:nvPr/>
        </p:nvSpPr>
        <p:spPr>
          <a:xfrm>
            <a:off x="6583680" y="5943600"/>
            <a:ext cx="123444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45,000</a:t>
            </a:r>
            <a:endParaRPr lang="en-US" sz="1100" dirty="0"/>
          </a:p>
        </p:txBody>
      </p:sp>
      <p:sp>
        <p:nvSpPr>
          <p:cNvPr id="91" name="Text 89"/>
          <p:cNvSpPr/>
          <p:nvPr/>
        </p:nvSpPr>
        <p:spPr>
          <a:xfrm>
            <a:off x="7955280" y="5943600"/>
            <a:ext cx="1600200" cy="320040"/>
          </a:xfrm>
          <a:prstGeom prst="rect">
            <a:avLst/>
          </a:prstGeom>
          <a:noFill/>
          <a:ln/>
        </p:spPr>
        <p:txBody>
          <a:bodyPr wrap="square" lIns="0" tIns="0" rIns="0" bIns="0" rtlCol="0" anchor="ctr"/>
          <a:lstStyle/>
          <a:p>
            <a:pPr indent="0" marL="0">
              <a:buNone/>
            </a:pPr>
            <a:r>
              <a:rPr lang="en-US" sz="1100" dirty="0">
                <a:solidFill>
                  <a:srgbClr val="CFC5AC"/>
                </a:solidFill>
                <a:latin typeface="Calibri" pitchFamily="34" charset="0"/>
                <a:ea typeface="Calibri" pitchFamily="34" charset="-122"/>
                <a:cs typeface="Calibri" pitchFamily="34" charset="-120"/>
              </a:rPr>
              <a:t>45,000</a:t>
            </a:r>
            <a:endParaRPr lang="en-US" sz="1100" dirty="0"/>
          </a:p>
        </p:txBody>
      </p:sp>
      <p:sp>
        <p:nvSpPr>
          <p:cNvPr id="92" name="Text 90"/>
          <p:cNvSpPr/>
          <p:nvPr/>
        </p:nvSpPr>
        <p:spPr>
          <a:xfrm>
            <a:off x="9692640" y="5943600"/>
            <a:ext cx="1691640" cy="320040"/>
          </a:xfrm>
          <a:prstGeom prst="rect">
            <a:avLst/>
          </a:prstGeom>
          <a:noFill/>
          <a:ln/>
        </p:spPr>
        <p:txBody>
          <a:bodyPr wrap="square" lIns="0" tIns="0" rIns="0" bIns="0" rtlCol="0" anchor="ctr"/>
          <a:lstStyle/>
          <a:p>
            <a:pPr indent="0" marL="0">
              <a:buNone/>
            </a:pPr>
            <a:r>
              <a:rPr lang="en-US" sz="1100" b="1" dirty="0">
                <a:solidFill>
                  <a:srgbClr val="E9C36B"/>
                </a:solidFill>
                <a:latin typeface="Calibri" pitchFamily="34" charset="0"/>
                <a:ea typeface="Calibri" pitchFamily="34" charset="-122"/>
                <a:cs typeface="Calibri" pitchFamily="34" charset="-120"/>
              </a:rPr>
              <a:t>198,000</a:t>
            </a:r>
            <a:endParaRPr lang="en-US" sz="1100" dirty="0"/>
          </a:p>
        </p:txBody>
      </p:sp>
      <p:sp>
        <p:nvSpPr>
          <p:cNvPr id="93" name="Shape 91"/>
          <p:cNvSpPr/>
          <p:nvPr/>
        </p:nvSpPr>
        <p:spPr>
          <a:xfrm>
            <a:off x="731520" y="5989320"/>
            <a:ext cx="10698480" cy="594360"/>
          </a:xfrm>
          <a:prstGeom prst="roundRect">
            <a:avLst>
              <a:gd name="adj" fmla="val 15385"/>
            </a:avLst>
          </a:prstGeom>
          <a:solidFill>
            <a:srgbClr val="1A2E48"/>
          </a:solidFill>
          <a:ln w="12700">
            <a:solidFill>
              <a:srgbClr val="F0994A"/>
            </a:solidFill>
            <a:prstDash val="solid"/>
          </a:ln>
        </p:spPr>
      </p:sp>
      <p:sp>
        <p:nvSpPr>
          <p:cNvPr id="94" name="Text 92"/>
          <p:cNvSpPr/>
          <p:nvPr/>
        </p:nvSpPr>
        <p:spPr>
          <a:xfrm>
            <a:off x="960120" y="6035040"/>
            <a:ext cx="10424160" cy="502920"/>
          </a:xfrm>
          <a:prstGeom prst="rect">
            <a:avLst/>
          </a:prstGeom>
          <a:noFill/>
          <a:ln/>
        </p:spPr>
        <p:txBody>
          <a:bodyPr wrap="square" lIns="0" tIns="0" rIns="0" bIns="0" rtlCol="0" anchor="ctr"/>
          <a:lstStyle/>
          <a:p>
            <a:pPr indent="0" marL="0">
              <a:buNone/>
            </a:pPr>
            <a:r>
              <a:rPr lang="en-US" sz="1200" b="1" dirty="0">
                <a:solidFill>
                  <a:srgbClr val="F0994A"/>
                </a:solidFill>
                <a:latin typeface="Calibri" pitchFamily="34" charset="0"/>
                <a:ea typeface="Calibri" pitchFamily="34" charset="-122"/>
                <a:cs typeface="Calibri" pitchFamily="34" charset="-120"/>
              </a:rPr>
              <a:t>⚠ Thresholds: </a:t>
            </a:r>
            <a:pPr indent="0" marL="0">
              <a:buNone/>
            </a:pPr>
            <a:r>
              <a:rPr lang="en-US" sz="1200" dirty="0">
                <a:solidFill>
                  <a:srgbClr val="CFC5AC"/>
                </a:solidFill>
                <a:latin typeface="Cambria" pitchFamily="34" charset="0"/>
                <a:ea typeface="Cambria" pitchFamily="34" charset="-122"/>
                <a:cs typeface="Cambria" pitchFamily="34" charset="-120"/>
              </a:rPr>
              <a:t>at 30 CCU you cross Resend Free (add ₹1,700/mo)  ·  at 30 CCU you cross Render Starter (add ₹2,600/mo)  ·  at 100 CCU you cross Render Standard (add ₹5,100/mo)  ·  at 500 CCU you cross Resend Pro.</a:t>
            </a:r>
            <a:endParaRPr lang="en-US" sz="1200" dirty="0"/>
          </a:p>
        </p:txBody>
      </p:sp>
      <p:sp>
        <p:nvSpPr>
          <p:cNvPr id="95" name="Text 93"/>
          <p:cNvSpPr/>
          <p:nvPr/>
        </p:nvSpPr>
        <p:spPr>
          <a:xfrm>
            <a:off x="457200" y="6537960"/>
            <a:ext cx="5486400" cy="228600"/>
          </a:xfrm>
          <a:prstGeom prst="rect">
            <a:avLst/>
          </a:prstGeom>
          <a:noFill/>
          <a:ln/>
        </p:spPr>
        <p:txBody>
          <a:bodyPr wrap="square" lIns="0" tIns="0" rIns="0" bIns="0" rtlCol="0" anchor="ctr"/>
          <a:lstStyle/>
          <a:p>
            <a:pPr indent="0" marL="0">
              <a:buNone/>
            </a:pPr>
            <a:r>
              <a:rPr lang="en-US" sz="900" dirty="0">
                <a:solidFill>
                  <a:srgbClr val="7A8AA8"/>
                </a:solidFill>
                <a:latin typeface="Calibri" pitchFamily="34" charset="0"/>
                <a:ea typeface="Calibri" pitchFamily="34" charset="-122"/>
                <a:cs typeface="Calibri" pitchFamily="34" charset="-120"/>
              </a:rPr>
              <a:t>Chhatak — Scaling &amp; Cost Analysis</a:t>
            </a:r>
            <a:endParaRPr lang="en-US" sz="900" dirty="0"/>
          </a:p>
        </p:txBody>
      </p:sp>
      <p:sp>
        <p:nvSpPr>
          <p:cNvPr id="96" name="Text 94"/>
          <p:cNvSpPr/>
          <p:nvPr/>
        </p:nvSpPr>
        <p:spPr>
          <a:xfrm>
            <a:off x="11338560" y="6537960"/>
            <a:ext cx="731520" cy="228600"/>
          </a:xfrm>
          <a:prstGeom prst="rect">
            <a:avLst/>
          </a:prstGeom>
          <a:noFill/>
          <a:ln/>
        </p:spPr>
        <p:txBody>
          <a:bodyPr wrap="square" lIns="0" tIns="0" rIns="0" bIns="0" rtlCol="0" anchor="ctr"/>
          <a:lstStyle/>
          <a:p>
            <a:pPr algn="r" indent="0" marL="0">
              <a:buNone/>
            </a:pPr>
            <a:r>
              <a:rPr lang="en-US" sz="900" dirty="0">
                <a:solidFill>
                  <a:srgbClr val="7A8AA8"/>
                </a:solidFill>
                <a:latin typeface="Calibri" pitchFamily="34" charset="0"/>
                <a:ea typeface="Calibri" pitchFamily="34" charset="-122"/>
                <a:cs typeface="Calibri" pitchFamily="34" charset="-120"/>
              </a:rPr>
              <a:t>16 / 16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Chhatak — Scaling &amp; Cost Analysis</dc:title>
  <dc:subject>PptxGenJS Presentation</dc:subject>
  <dc:creator>PptxGenJS</dc:creator>
  <cp:lastModifiedBy>PptxGenJS</cp:lastModifiedBy>
  <cp:revision>1</cp:revision>
  <dcterms:created xsi:type="dcterms:W3CDTF">2026-07-17T16:38:33Z</dcterms:created>
  <dcterms:modified xsi:type="dcterms:W3CDTF">2026-07-17T16:38:33Z</dcterms:modified>
</cp:coreProperties>
</file>